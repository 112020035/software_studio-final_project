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2"/>
  </p:sldMasterIdLst>
  <p:notesMasterIdLst>
    <p:notesMasterId r:id="rId58"/>
  </p:notesMasterIdLst>
  <p:handoutMasterIdLst>
    <p:handoutMasterId r:id="rId59"/>
  </p:handoutMasterIdLst>
  <p:sldIdLst>
    <p:sldId id="342" r:id="rId3"/>
    <p:sldId id="401" r:id="rId4"/>
    <p:sldId id="404" r:id="rId5"/>
    <p:sldId id="387" r:id="rId6"/>
    <p:sldId id="389" r:id="rId7"/>
    <p:sldId id="390" r:id="rId8"/>
    <p:sldId id="359" r:id="rId9"/>
    <p:sldId id="391" r:id="rId10"/>
    <p:sldId id="346" r:id="rId11"/>
    <p:sldId id="392" r:id="rId12"/>
    <p:sldId id="347" r:id="rId13"/>
    <p:sldId id="348" r:id="rId14"/>
    <p:sldId id="349" r:id="rId15"/>
    <p:sldId id="350" r:id="rId16"/>
    <p:sldId id="353" r:id="rId17"/>
    <p:sldId id="354" r:id="rId18"/>
    <p:sldId id="355" r:id="rId19"/>
    <p:sldId id="382" r:id="rId20"/>
    <p:sldId id="356" r:id="rId21"/>
    <p:sldId id="357" r:id="rId22"/>
    <p:sldId id="358" r:id="rId23"/>
    <p:sldId id="393" r:id="rId24"/>
    <p:sldId id="378" r:id="rId25"/>
    <p:sldId id="360" r:id="rId26"/>
    <p:sldId id="361" r:id="rId27"/>
    <p:sldId id="362" r:id="rId28"/>
    <p:sldId id="402" r:id="rId29"/>
    <p:sldId id="365" r:id="rId30"/>
    <p:sldId id="385" r:id="rId31"/>
    <p:sldId id="386" r:id="rId32"/>
    <p:sldId id="381" r:id="rId33"/>
    <p:sldId id="403" r:id="rId34"/>
    <p:sldId id="363" r:id="rId35"/>
    <p:sldId id="364" r:id="rId36"/>
    <p:sldId id="368" r:id="rId37"/>
    <p:sldId id="366" r:id="rId38"/>
    <p:sldId id="380" r:id="rId39"/>
    <p:sldId id="369" r:id="rId40"/>
    <p:sldId id="370" r:id="rId41"/>
    <p:sldId id="372" r:id="rId42"/>
    <p:sldId id="371" r:id="rId43"/>
    <p:sldId id="384" r:id="rId44"/>
    <p:sldId id="373" r:id="rId45"/>
    <p:sldId id="374" r:id="rId46"/>
    <p:sldId id="375" r:id="rId47"/>
    <p:sldId id="394" r:id="rId48"/>
    <p:sldId id="395" r:id="rId49"/>
    <p:sldId id="396" r:id="rId50"/>
    <p:sldId id="400" r:id="rId51"/>
    <p:sldId id="397" r:id="rId52"/>
    <p:sldId id="398" r:id="rId53"/>
    <p:sldId id="399" r:id="rId54"/>
    <p:sldId id="376" r:id="rId55"/>
    <p:sldId id="351" r:id="rId56"/>
    <p:sldId id="344" r:id="rId5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Introduction" id="{030C371F-2CC1-441F-AD83-AAA691A9AF54}">
          <p14:sldIdLst>
            <p14:sldId id="342"/>
            <p14:sldId id="401"/>
            <p14:sldId id="404"/>
            <p14:sldId id="387"/>
            <p14:sldId id="389"/>
            <p14:sldId id="390"/>
            <p14:sldId id="359"/>
            <p14:sldId id="391"/>
            <p14:sldId id="346"/>
          </p14:sldIdLst>
        </p14:section>
        <p14:section name="Serialization Problems" id="{6F078D9C-89E3-4E85-B15B-F4F7484071AD}">
          <p14:sldIdLst>
            <p14:sldId id="392"/>
            <p14:sldId id="347"/>
            <p14:sldId id="348"/>
            <p14:sldId id="349"/>
            <p14:sldId id="350"/>
            <p14:sldId id="353"/>
            <p14:sldId id="354"/>
            <p14:sldId id="355"/>
            <p14:sldId id="382"/>
            <p14:sldId id="356"/>
            <p14:sldId id="357"/>
            <p14:sldId id="358"/>
          </p14:sldIdLst>
        </p14:section>
        <p14:section name="Merging" id="{2D5F9C84-AA03-43F3-AF9F-43D29C2273FB}">
          <p14:sldIdLst>
            <p14:sldId id="393"/>
            <p14:sldId id="378"/>
            <p14:sldId id="360"/>
            <p14:sldId id="361"/>
            <p14:sldId id="362"/>
            <p14:sldId id="402"/>
            <p14:sldId id="365"/>
            <p14:sldId id="385"/>
            <p14:sldId id="386"/>
            <p14:sldId id="381"/>
            <p14:sldId id="403"/>
            <p14:sldId id="363"/>
            <p14:sldId id="364"/>
            <p14:sldId id="368"/>
            <p14:sldId id="366"/>
            <p14:sldId id="380"/>
            <p14:sldId id="369"/>
            <p14:sldId id="370"/>
            <p14:sldId id="372"/>
            <p14:sldId id="371"/>
            <p14:sldId id="384"/>
            <p14:sldId id="373"/>
            <p14:sldId id="374"/>
            <p14:sldId id="375"/>
          </p14:sldIdLst>
        </p14:section>
        <p14:section name="Rollback" id="{AE1B7810-C064-4005-AC6A-619B8DFE5A03}">
          <p14:sldIdLst>
            <p14:sldId id="394"/>
            <p14:sldId id="395"/>
            <p14:sldId id="396"/>
            <p14:sldId id="400"/>
            <p14:sldId id="397"/>
            <p14:sldId id="398"/>
            <p14:sldId id="399"/>
          </p14:sldIdLst>
        </p14:section>
        <p14:section name="Ending" id="{241CBF0F-F429-4AE2-8EC2-B0D12E6526AA}">
          <p14:sldIdLst>
            <p14:sldId id="376"/>
            <p14:sldId id="351"/>
            <p14:sldId id="34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EEFE"/>
    <a:srgbClr val="96EAFE"/>
    <a:srgbClr val="7C5989"/>
    <a:srgbClr val="000066"/>
    <a:srgbClr val="4D6B89"/>
    <a:srgbClr val="384E64"/>
    <a:srgbClr val="274E75"/>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81856" autoAdjust="0"/>
  </p:normalViewPr>
  <p:slideViewPr>
    <p:cSldViewPr>
      <p:cViewPr varScale="1">
        <p:scale>
          <a:sx n="83" d="100"/>
          <a:sy n="83" d="100"/>
        </p:scale>
        <p:origin x="242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2F722A8-24DB-4C62-9C50-1A7D665A0ACD}" type="datetimeFigureOut">
              <a:rPr lang="en-US" smtClean="0"/>
              <a:pPr/>
              <a:t>2/16/2026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5D3C1DA-78F3-4155-B782-B94BFBBE8FCE}" type="slidenum">
              <a:rPr lang="en-US" smtClean="0"/>
              <a:pPr/>
              <a:t>‹#›</a:t>
            </a:fld>
            <a:endParaRPr lang="en-US"/>
          </a:p>
        </p:txBody>
      </p:sp>
    </p:spTree>
    <p:extLst>
      <p:ext uri="{BB962C8B-B14F-4D97-AF65-F5344CB8AC3E}">
        <p14:creationId xmlns:p14="http://schemas.microsoft.com/office/powerpoint/2010/main" val="1016049761"/>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CECC41-AB40-4044-9FC1-CC47A5A6ED32}" type="datetimeFigureOut">
              <a:rPr lang="en-US" smtClean="0"/>
              <a:pPr/>
              <a:t>2/16/2026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7E57BD-46E0-4D0B-8236-08AC4EDCC3C0}" type="slidenum">
              <a:rPr lang="en-US" smtClean="0"/>
              <a:pPr/>
              <a:t>‹#›</a:t>
            </a:fld>
            <a:endParaRPr lang="en-US"/>
          </a:p>
        </p:txBody>
      </p:sp>
    </p:spTree>
    <p:extLst>
      <p:ext uri="{BB962C8B-B14F-4D97-AF65-F5344CB8AC3E}">
        <p14:creationId xmlns:p14="http://schemas.microsoft.com/office/powerpoint/2010/main" val="647236530"/>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What this document is about:</a:t>
            </a:r>
          </a:p>
          <a:p>
            <a:pPr marL="171450" indent="-171450">
              <a:buFontTx/>
              <a:buChar char="-"/>
            </a:pPr>
            <a:r>
              <a:rPr lang="en-US" altLang="zh-TW" dirty="0"/>
              <a:t>Making you spend more time actually making the game and less time trying to synchronize with your teammates.</a:t>
            </a:r>
          </a:p>
          <a:p>
            <a:pPr marL="171450" indent="-171450">
              <a:buFontTx/>
              <a:buChar char="-"/>
            </a:pPr>
            <a:r>
              <a:rPr lang="en-US" altLang="zh-TW" dirty="0"/>
              <a:t>Reducing the amount of time wasted on wrestling with metadata issues in a game engine.</a:t>
            </a:r>
          </a:p>
          <a:p>
            <a:r>
              <a:rPr lang="en-US" altLang="zh-TW" dirty="0"/>
              <a:t>What this document is NOT about:</a:t>
            </a:r>
          </a:p>
          <a:p>
            <a:pPr marL="171450" indent="-171450">
              <a:buFontTx/>
              <a:buChar char="-"/>
            </a:pPr>
            <a:r>
              <a:rPr lang="en-US" altLang="zh-TW" dirty="0"/>
              <a:t>Game design (Very important!)</a:t>
            </a:r>
          </a:p>
          <a:p>
            <a:pPr marL="171450" indent="-171450">
              <a:buFontTx/>
              <a:buChar char="-"/>
            </a:pPr>
            <a:r>
              <a:rPr lang="en-US" altLang="zh-TW" dirty="0"/>
              <a:t>Clean code (Still important!)</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29983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93033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28347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02050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415940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Note: Git is notably bad with large binaries, requiring the Git LFS service to handle files of size greater than 100MB. Other VCS fare better against them, but metadata are still generally problematic.</a:t>
            </a:r>
          </a:p>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15151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1: You can avoid serialized data by hard-coding every property into your scripts and creating your scene entirely from a script. This is, of course, very messy, but for simple scenes it’s sometimes an option.</a:t>
            </a:r>
          </a:p>
          <a:p>
            <a:r>
              <a:rPr lang="en-US" altLang="zh-TW" dirty="0"/>
              <a:t>Note 2: Hard-to-resolve and cryptic because those data aren’t directly created by the developers in the project, mentioned later.</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066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1: JSON is a strict subset of JavaScript (after 2019). A JSON string can be directly translated into a JavaScript object by a JavaScript interpreter, with no preprocessing needed.</a:t>
            </a:r>
          </a:p>
          <a:p>
            <a:r>
              <a:rPr lang="en-US" altLang="zh-TW" dirty="0"/>
              <a:t>Note 2: Asset metadata notably contain import settings and identifiers (UUID).</a:t>
            </a:r>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36873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a:t>
            </a:r>
          </a:p>
          <a:p>
            <a:pPr marL="171450" indent="-171450">
              <a:buFontTx/>
              <a:buChar char="-"/>
            </a:pPr>
            <a:r>
              <a:rPr lang="en-US" altLang="zh-TW" dirty="0"/>
              <a:t>Serialized data: Organized in terms of a series of bytes that can be stored or transmitted to be reconstructed later.</a:t>
            </a:r>
          </a:p>
          <a:p>
            <a:pPr marL="628650" lvl="1" indent="-171450">
              <a:buFontTx/>
              <a:buChar char="-"/>
            </a:pPr>
            <a:r>
              <a:rPr lang="en-US" altLang="zh-TW" dirty="0"/>
              <a:t>A uniform 2D array (a contiguous array of integers with indices interpreted as a 2D array, for example) is serialized.</a:t>
            </a:r>
          </a:p>
          <a:p>
            <a:pPr marL="628650" lvl="1" indent="-171450">
              <a:buFontTx/>
              <a:buChar char="-"/>
            </a:pPr>
            <a:r>
              <a:rPr lang="en-US" altLang="zh-TW" dirty="0"/>
              <a:t>JSON objects are serialized because they’re just strings. They don’t contain runtime information.</a:t>
            </a:r>
          </a:p>
          <a:p>
            <a:pPr marL="171450" indent="-171450">
              <a:buFontTx/>
              <a:buChar char="-"/>
            </a:pPr>
            <a:r>
              <a:rPr lang="en-US" altLang="zh-TW" dirty="0"/>
              <a:t>Non-serialized data: Usually runtime objects. They’re non-persistent and contain references to runtime information such as pointers.</a:t>
            </a:r>
          </a:p>
          <a:p>
            <a:pPr marL="628650" lvl="1" indent="-171450">
              <a:buFontTx/>
              <a:buChar char="-"/>
            </a:pPr>
            <a:r>
              <a:rPr lang="en-US" altLang="zh-TW" dirty="0"/>
              <a:t>A jagged 2D array (array of integer pointers, for example) isn’t serialized.</a:t>
            </a:r>
          </a:p>
          <a:p>
            <a:pPr marL="628650" lvl="1" indent="-171450">
              <a:buFontTx/>
              <a:buChar char="-"/>
            </a:pP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90058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This is a script for a collectible item, inheriting from </a:t>
            </a:r>
            <a:r>
              <a:rPr lang="en-US" altLang="zh-TW" dirty="0" err="1"/>
              <a:t>cc.Rigidbody</a:t>
            </a:r>
            <a:r>
              <a:rPr lang="en-US" altLang="zh-TW" dirty="0"/>
              <a:t>.</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338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75441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401193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41308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910523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98144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These errors vary in intensity (your project might still compile successfully), but it’s extremely hard to fix once they appear.</a:t>
            </a:r>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13960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622793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415203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195178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Dependency between objects inside the same project is called “internal dependency”, a type of dependency you have full control over. External dependency refers to dependency over external API (such as three.js and the Firebase API, which are out of your control). We only discuss internal dependencies here.</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58108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335743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This is not necessarily the best way to implement HUD functionalities. One might prefer to have additional components that handle translating the player’s HP and score (Numbers) into formatted strings, rather than letting PlayerController implement those functionalities. There is no right or wrong here, though.</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41320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400692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UIManager is an abstraction layer over Alice’s prefab.</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9533728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Alternatively, you can make UIManager a singleton (class with exactly one instance, accessible through a static variable). Singletons should be used with care, however, like other design patterns in the Gang of Four.</a:t>
            </a:r>
          </a:p>
          <a:p>
            <a:endParaRPr lang="en-US" altLang="zh-TW" dirty="0"/>
          </a:p>
          <a:p>
            <a:r>
              <a:rPr lang="en-US" altLang="zh-TW" dirty="0"/>
              <a:t>The approach shown here has an advantage over the singleton approach in that it is immediately obvious that Bob’s prefab depends on a reference to UIManager, whereas in the singleton approach one would have to check every component in Bob’s prefab to identify the dependency.</a:t>
            </a:r>
          </a:p>
          <a:p>
            <a:endParaRPr lang="en-US" altLang="zh-TW" dirty="0"/>
          </a:p>
          <a:p>
            <a:r>
              <a:rPr lang="en-US" altLang="zh-TW" dirty="0"/>
              <a:t>Furthermore, Bob would be able to test his changes’ functionalities in a separate scene with a simplified UI by plugging the prefab into that scene and connecting to that scene’s UIManager, all without waiting for Alice.</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992389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ActorManager is an abstraction layer over Bob’s prefab’s external dependencies.</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223670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Note: “</a:t>
            </a:r>
            <a:r>
              <a:rPr lang="en-US" altLang="zh-TW" dirty="0" err="1"/>
              <a:t>injectDependencies</a:t>
            </a:r>
            <a:r>
              <a:rPr lang="en-US" altLang="zh-TW" dirty="0"/>
              <a:t>” could just be a public method that just assigns the given </a:t>
            </a:r>
            <a:r>
              <a:rPr lang="en-US" altLang="zh-TW" dirty="0" err="1"/>
              <a:t>UIManager</a:t>
            </a:r>
            <a:r>
              <a:rPr lang="en-US" altLang="zh-TW" dirty="0"/>
              <a:t> to a private property.</a:t>
            </a:r>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62912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32341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懶人包</a:t>
            </a:r>
          </a:p>
        </p:txBody>
      </p:sp>
      <p:sp>
        <p:nvSpPr>
          <p:cNvPr id="4" name="頁首版面配置區 3"/>
          <p:cNvSpPr>
            <a:spLocks noGrp="1"/>
          </p:cNvSpPr>
          <p:nvPr>
            <p:ph type="hdr" sz="quarter"/>
          </p:nvPr>
        </p:nvSpPr>
        <p:spPr/>
        <p:txBody>
          <a:bodyPr/>
          <a:lstStyle/>
          <a:p>
            <a:endParaRPr lang="en-US"/>
          </a:p>
        </p:txBody>
      </p:sp>
      <p:sp>
        <p:nvSpPr>
          <p:cNvPr id="5" name="頁尾版面配置區 4"/>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056593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lvl1pPr>
              <a:defRPr b="1"/>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zh-TW" altLang="en-US" dirty="0"/>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p:txBody>
          <a:bodyPr/>
          <a:lstStyle/>
          <a:p>
            <a:endParaRPr lang="en-US" dirty="0"/>
          </a:p>
        </p:txBody>
      </p:sp>
      <p:sp>
        <p:nvSpPr>
          <p:cNvPr id="6" name="投影片編號版面配置區 5"/>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b="1"/>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p:txBody>
          <a:bodyPr/>
          <a:lstStyle/>
          <a:p>
            <a:endParaRPr lang="en-US" dirty="0"/>
          </a:p>
        </p:txBody>
      </p:sp>
      <p:sp>
        <p:nvSpPr>
          <p:cNvPr id="6" name="投影片編號版面配置區 5"/>
          <p:cNvSpPr>
            <a:spLocks noGrp="1"/>
          </p:cNvSpPr>
          <p:nvPr>
            <p:ph type="sldNum" sz="quarter" idx="12"/>
          </p:nvPr>
        </p:nvSpPr>
        <p:spPr>
          <a:xfrm>
            <a:off x="6732240" y="6308725"/>
            <a:ext cx="2133600" cy="365125"/>
          </a:xfrm>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p:txBody>
          <a:bodyPr/>
          <a:lstStyle/>
          <a:p>
            <a:endParaRPr lang="en-US" dirty="0"/>
          </a:p>
        </p:txBody>
      </p:sp>
      <p:sp>
        <p:nvSpPr>
          <p:cNvPr id="6" name="投影片編號版面配置區 5"/>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b="1"/>
            </a:lvl1pPr>
          </a:lstStyle>
          <a:p>
            <a:r>
              <a:rPr lang="zh-TW" altLang="en-US"/>
              <a:t>按一下以編輯母片標題樣式</a:t>
            </a:r>
            <a:endParaRPr lang="zh-TW" altLang="en-US" dirty="0"/>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en-US"/>
          </a:p>
        </p:txBody>
      </p:sp>
      <p:sp>
        <p:nvSpPr>
          <p:cNvPr id="6" name="頁尾版面配置區 5"/>
          <p:cNvSpPr>
            <a:spLocks noGrp="1"/>
          </p:cNvSpPr>
          <p:nvPr>
            <p:ph type="ftr" sz="quarter" idx="11"/>
          </p:nvPr>
        </p:nvSpPr>
        <p:spPr/>
        <p:txBody>
          <a:bodyPr/>
          <a:lstStyle/>
          <a:p>
            <a:endParaRPr lang="en-US" dirty="0"/>
          </a:p>
        </p:txBody>
      </p:sp>
      <p:sp>
        <p:nvSpPr>
          <p:cNvPr id="7" name="投影片編號版面配置區 6"/>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b="1"/>
            </a:lvl1pPr>
          </a:lstStyle>
          <a:p>
            <a:r>
              <a:rPr lang="zh-TW" altLang="en-US"/>
              <a:t>按一下以編輯母片標題樣式</a:t>
            </a:r>
            <a:endParaRPr lang="zh-TW" altLang="en-US" dirty="0"/>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en-US"/>
          </a:p>
        </p:txBody>
      </p:sp>
      <p:sp>
        <p:nvSpPr>
          <p:cNvPr id="8" name="頁尾版面配置區 7"/>
          <p:cNvSpPr>
            <a:spLocks noGrp="1"/>
          </p:cNvSpPr>
          <p:nvPr>
            <p:ph type="ftr" sz="quarter" idx="11"/>
          </p:nvPr>
        </p:nvSpPr>
        <p:spPr/>
        <p:txBody>
          <a:bodyPr/>
          <a:lstStyle/>
          <a:p>
            <a:endParaRPr lang="en-US" dirty="0"/>
          </a:p>
        </p:txBody>
      </p:sp>
      <p:sp>
        <p:nvSpPr>
          <p:cNvPr id="9" name="投影片編號版面配置區 8"/>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b="1"/>
            </a:lvl1pPr>
          </a:lstStyle>
          <a:p>
            <a:r>
              <a:rPr lang="zh-TW" altLang="en-US"/>
              <a:t>按一下以編輯母片標題樣式</a:t>
            </a:r>
            <a:endParaRPr lang="zh-TW" altLang="en-US" dirty="0"/>
          </a:p>
        </p:txBody>
      </p:sp>
      <p:sp>
        <p:nvSpPr>
          <p:cNvPr id="3" name="日期版面配置區 2"/>
          <p:cNvSpPr>
            <a:spLocks noGrp="1"/>
          </p:cNvSpPr>
          <p:nvPr>
            <p:ph type="dt" sz="half" idx="10"/>
          </p:nvPr>
        </p:nvSpPr>
        <p:spPr/>
        <p:txBody>
          <a:bodyPr/>
          <a:lstStyle/>
          <a:p>
            <a:endParaRPr lang="en-US"/>
          </a:p>
        </p:txBody>
      </p:sp>
      <p:sp>
        <p:nvSpPr>
          <p:cNvPr id="4" name="頁尾版面配置區 3"/>
          <p:cNvSpPr>
            <a:spLocks noGrp="1"/>
          </p:cNvSpPr>
          <p:nvPr>
            <p:ph type="ftr" sz="quarter" idx="11"/>
          </p:nvPr>
        </p:nvSpPr>
        <p:spPr/>
        <p:txBody>
          <a:bodyPr/>
          <a:lstStyle/>
          <a:p>
            <a:endParaRPr lang="en-US" dirty="0"/>
          </a:p>
        </p:txBody>
      </p:sp>
      <p:sp>
        <p:nvSpPr>
          <p:cNvPr id="5" name="投影片編號版面配置區 4"/>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en-US"/>
          </a:p>
        </p:txBody>
      </p:sp>
      <p:sp>
        <p:nvSpPr>
          <p:cNvPr id="3" name="頁尾版面配置區 2"/>
          <p:cNvSpPr>
            <a:spLocks noGrp="1"/>
          </p:cNvSpPr>
          <p:nvPr>
            <p:ph type="ftr" sz="quarter" idx="11"/>
          </p:nvPr>
        </p:nvSpPr>
        <p:spPr/>
        <p:txBody>
          <a:bodyPr/>
          <a:lstStyle/>
          <a:p>
            <a:endParaRPr lang="en-US" dirty="0"/>
          </a:p>
        </p:txBody>
      </p:sp>
      <p:sp>
        <p:nvSpPr>
          <p:cNvPr id="4" name="投影片編號版面配置區 3"/>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en-US"/>
          </a:p>
        </p:txBody>
      </p:sp>
      <p:sp>
        <p:nvSpPr>
          <p:cNvPr id="6" name="頁尾版面配置區 5"/>
          <p:cNvSpPr>
            <a:spLocks noGrp="1"/>
          </p:cNvSpPr>
          <p:nvPr>
            <p:ph type="ftr" sz="quarter" idx="11"/>
          </p:nvPr>
        </p:nvSpPr>
        <p:spPr/>
        <p:txBody>
          <a:bodyPr/>
          <a:lstStyle/>
          <a:p>
            <a:endParaRPr lang="en-US" dirty="0"/>
          </a:p>
        </p:txBody>
      </p:sp>
      <p:sp>
        <p:nvSpPr>
          <p:cNvPr id="7" name="投影片編號版面配置區 6"/>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en-US"/>
          </a:p>
        </p:txBody>
      </p:sp>
      <p:sp>
        <p:nvSpPr>
          <p:cNvPr id="6" name="頁尾版面配置區 5"/>
          <p:cNvSpPr>
            <a:spLocks noGrp="1"/>
          </p:cNvSpPr>
          <p:nvPr>
            <p:ph type="ftr" sz="quarter" idx="11"/>
          </p:nvPr>
        </p:nvSpPr>
        <p:spPr/>
        <p:txBody>
          <a:bodyPr/>
          <a:lstStyle/>
          <a:p>
            <a:endParaRPr lang="en-US" dirty="0"/>
          </a:p>
        </p:txBody>
      </p:sp>
      <p:sp>
        <p:nvSpPr>
          <p:cNvPr id="7" name="投影片編號版面配置區 6"/>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b="1"/>
            </a:lvl1pPr>
          </a:lstStyle>
          <a:p>
            <a:r>
              <a:rPr lang="zh-TW" altLang="en-US"/>
              <a:t>按一下以編輯母片標題樣式</a:t>
            </a:r>
            <a:endParaRPr lang="zh-TW" altLang="en-US" dirty="0"/>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p:txBody>
          <a:bodyPr/>
          <a:lstStyle/>
          <a:p>
            <a:endParaRPr lang="en-US" dirty="0"/>
          </a:p>
        </p:txBody>
      </p:sp>
      <p:sp>
        <p:nvSpPr>
          <p:cNvPr id="6" name="投影片編號版面配置區 5"/>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p:txBody>
          <a:bodyPr/>
          <a:lstStyle/>
          <a:p>
            <a:endParaRPr lang="en-US" dirty="0"/>
          </a:p>
        </p:txBody>
      </p:sp>
      <p:sp>
        <p:nvSpPr>
          <p:cNvPr id="6" name="投影片編號版面配置區 5"/>
          <p:cNvSpPr>
            <a:spLocks noGrp="1"/>
          </p:cNvSpPr>
          <p:nvPr>
            <p:ph type="sldNum" sz="quarter" idx="12"/>
          </p:nvPr>
        </p:nvSpPr>
        <p:spPr/>
        <p:txBody>
          <a:bodyPr/>
          <a:lstStyle/>
          <a:p>
            <a:fld id="{A824896F-7755-466F-8C35-EAFD8CA4351D}" type="slidenum">
              <a:rPr lang="en-US" smtClean="0"/>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5" name="群組 14"/>
          <p:cNvGrpSpPr/>
          <p:nvPr/>
        </p:nvGrpSpPr>
        <p:grpSpPr>
          <a:xfrm>
            <a:off x="7668344" y="5877272"/>
            <a:ext cx="1391012" cy="926572"/>
            <a:chOff x="3563888" y="4221088"/>
            <a:chExt cx="1391012" cy="926572"/>
          </a:xfrm>
        </p:grpSpPr>
        <p:pic>
          <p:nvPicPr>
            <p:cNvPr id="16" name="Picture 4"/>
            <p:cNvPicPr>
              <a:picLocks noChangeAspect="1" noChangeArrowheads="1"/>
            </p:cNvPicPr>
            <p:nvPr/>
          </p:nvPicPr>
          <p:blipFill>
            <a:blip r:embed="rId13" cstate="print">
              <a:extLst>
                <a:ext uri="{28A0092B-C50C-407E-A947-70E740481C1C}">
                  <a14:useLocalDpi xmlns:a14="http://schemas.microsoft.com/office/drawing/2010/main" val="0"/>
                </a:ext>
              </a:extLst>
            </a:blip>
            <a:stretch>
              <a:fillRect/>
            </a:stretch>
          </p:blipFill>
          <p:spPr bwMode="auto">
            <a:xfrm>
              <a:off x="3563888" y="4221088"/>
              <a:ext cx="936104" cy="92657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C:\Users\James\Downloads\GIF\清大LOGO(鳥).gif"/>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054799" y="4511434"/>
              <a:ext cx="900101" cy="448831"/>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24896F-7755-466F-8C35-EAFD8CA4351D}" type="slidenum">
              <a:rPr lang="en-US" smtClean="0"/>
              <a:pPr/>
              <a:t>‹#›</a:t>
            </a:fld>
            <a:endParaRPr lang="en-US"/>
          </a:p>
        </p:txBody>
      </p:sp>
      <p:pic>
        <p:nvPicPr>
          <p:cNvPr id="19" name="圖片 18"/>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9727" y="0"/>
            <a:ext cx="9253727" cy="6858000"/>
          </a:xfrm>
          <a:prstGeom prst="rect">
            <a:avLst/>
          </a:prstGeom>
        </p:spPr>
      </p:pic>
      <p:sp>
        <p:nvSpPr>
          <p:cNvPr id="9" name="標題版面配置區 8"/>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kumimoji="1" lang="zh-TW" altLang="en-US"/>
              <a:t>按一下以編輯母片標題樣式</a:t>
            </a:r>
          </a:p>
        </p:txBody>
      </p:sp>
    </p:spTree>
    <p:extLst>
      <p:ext uri="{BB962C8B-B14F-4D97-AF65-F5344CB8AC3E}">
        <p14:creationId xmlns:p14="http://schemas.microsoft.com/office/powerpoint/2010/main" val="15518282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git-scm.com/docs/git-checkou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marketplace.visualstudio.com/items?itemName=eamodio.gitlens" TargetMode="External"/><Relationship Id="rId2" Type="http://schemas.openxmlformats.org/officeDocument/2006/relationships/hyperlink" Target="https://marketplace.visualstudio.com/items?itemName=donjayamanne.githistory" TargetMode="External"/><Relationship Id="rId1" Type="http://schemas.openxmlformats.org/officeDocument/2006/relationships/slideLayout" Target="../slideLayouts/slideLayout2.xml"/><Relationship Id="rId4" Type="http://schemas.openxmlformats.org/officeDocument/2006/relationships/hyperlink" Target="https://git-scm.com/docs/git-revert"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gif"/><Relationship Id="rId4"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2001" y="2247564"/>
            <a:ext cx="7772400" cy="1470025"/>
          </a:xfrm>
        </p:spPr>
        <p:txBody>
          <a:bodyPr>
            <a:normAutofit/>
          </a:bodyPr>
          <a:lstStyle/>
          <a:p>
            <a:r>
              <a:rPr kumimoji="1" lang="en-US" altLang="zh-TW" sz="4800" dirty="0"/>
              <a:t>Game Development Tips</a:t>
            </a:r>
            <a:endParaRPr kumimoji="1" lang="zh-TW" altLang="en-US" sz="4800" dirty="0"/>
          </a:p>
        </p:txBody>
      </p:sp>
      <p:sp>
        <p:nvSpPr>
          <p:cNvPr id="3" name="副標題 2"/>
          <p:cNvSpPr>
            <a:spLocks noGrp="1"/>
          </p:cNvSpPr>
          <p:nvPr>
            <p:ph type="subTitle" idx="1"/>
          </p:nvPr>
        </p:nvSpPr>
        <p:spPr>
          <a:xfrm>
            <a:off x="1371600" y="4077072"/>
            <a:ext cx="6400800" cy="1752600"/>
          </a:xfrm>
        </p:spPr>
        <p:txBody>
          <a:bodyPr>
            <a:normAutofit/>
          </a:bodyPr>
          <a:lstStyle/>
          <a:p>
            <a:r>
              <a:rPr kumimoji="1" lang="en-US" altLang="zh-TW" sz="2800" b="1" dirty="0"/>
              <a:t>Hung-</a:t>
            </a:r>
            <a:r>
              <a:rPr kumimoji="1" lang="en-US" altLang="zh-TW" sz="2800" b="1" dirty="0" err="1"/>
              <a:t>Kuo</a:t>
            </a:r>
            <a:r>
              <a:rPr kumimoji="1" lang="en-US" altLang="zh-TW" sz="2800" b="1" dirty="0"/>
              <a:t> Chu</a:t>
            </a:r>
          </a:p>
          <a:p>
            <a:r>
              <a:rPr kumimoji="1" lang="en-US" altLang="zh-TW" sz="2800" dirty="0"/>
              <a:t>Department of Computer Science</a:t>
            </a:r>
          </a:p>
          <a:p>
            <a:r>
              <a:rPr kumimoji="1" lang="en-US" altLang="zh-TW" sz="2800" dirty="0"/>
              <a:t>National Tsing Hua University</a:t>
            </a:r>
          </a:p>
          <a:p>
            <a:endParaRPr kumimoji="1" lang="zh-TW" altLang="en-US" sz="2800" dirty="0"/>
          </a:p>
        </p:txBody>
      </p:sp>
      <p:sp>
        <p:nvSpPr>
          <p:cNvPr id="4" name="文字方塊 3"/>
          <p:cNvSpPr txBox="1"/>
          <p:nvPr/>
        </p:nvSpPr>
        <p:spPr>
          <a:xfrm>
            <a:off x="4083132" y="6206642"/>
            <a:ext cx="970137" cy="523220"/>
          </a:xfrm>
          <a:prstGeom prst="rect">
            <a:avLst/>
          </a:prstGeom>
          <a:noFill/>
          <a:effectLst/>
        </p:spPr>
        <p:txBody>
          <a:bodyPr wrap="none" rtlCol="0">
            <a:spAutoFit/>
          </a:bodyPr>
          <a:lstStyle/>
          <a:p>
            <a:r>
              <a:rPr lang="en-US" altLang="zh-TW" sz="2800" dirty="0">
                <a:solidFill>
                  <a:schemeClr val="tx1">
                    <a:lumMod val="75000"/>
                    <a:lumOff val="25000"/>
                  </a:schemeClr>
                </a:solidFill>
                <a:effectLst>
                  <a:reflection blurRad="6350" stA="55000" endA="300" endPos="45500" dir="5400000" sy="-100000" algn="bl" rotWithShape="0"/>
                </a:effectLst>
                <a:latin typeface="Stencil Std" pitchFamily="82" charset="0"/>
              </a:rPr>
              <a:t>CS2410</a:t>
            </a:r>
          </a:p>
        </p:txBody>
      </p:sp>
      <p:sp>
        <p:nvSpPr>
          <p:cNvPr id="5" name="標題 1"/>
          <p:cNvSpPr txBox="1">
            <a:spLocks/>
          </p:cNvSpPr>
          <p:nvPr/>
        </p:nvSpPr>
        <p:spPr>
          <a:xfrm>
            <a:off x="685800" y="476672"/>
            <a:ext cx="77724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chemeClr val="tx1"/>
                </a:solidFill>
                <a:latin typeface="+mj-lt"/>
                <a:ea typeface="+mj-ea"/>
                <a:cs typeface="+mj-cs"/>
              </a:defRPr>
            </a:lvl1pPr>
          </a:lstStyle>
          <a:p>
            <a:pPr fontAlgn="auto">
              <a:spcAft>
                <a:spcPts val="0"/>
              </a:spcAft>
            </a:pPr>
            <a:r>
              <a:rPr lang="en-US" altLang="zh-TW" b="0" dirty="0">
                <a:solidFill>
                  <a:srgbClr val="00B050"/>
                </a:solidFill>
              </a:rPr>
              <a:t>Software Studio</a:t>
            </a:r>
            <a:br>
              <a:rPr lang="en-US" altLang="zh-TW" b="0" dirty="0">
                <a:solidFill>
                  <a:srgbClr val="00B050"/>
                </a:solidFill>
              </a:rPr>
            </a:br>
            <a:r>
              <a:rPr lang="zh-TW" altLang="en-US" b="0" dirty="0"/>
              <a:t> </a:t>
            </a:r>
            <a:r>
              <a:rPr lang="zh-TW" altLang="en-US" b="0" dirty="0">
                <a:solidFill>
                  <a:schemeClr val="tx2">
                    <a:lumMod val="60000"/>
                    <a:lumOff val="40000"/>
                  </a:schemeClr>
                </a:solidFill>
                <a:latin typeface="+mj-ea"/>
              </a:rPr>
              <a:t>軟體設計與實驗</a:t>
            </a:r>
            <a:endParaRPr kumimoji="1" lang="zh-TW" altLang="en-US" dirty="0"/>
          </a:p>
        </p:txBody>
      </p:sp>
    </p:spTree>
    <p:extLst>
      <p:ext uri="{BB962C8B-B14F-4D97-AF65-F5344CB8AC3E}">
        <p14:creationId xmlns:p14="http://schemas.microsoft.com/office/powerpoint/2010/main" val="118114137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3ECCC3-6BC0-40DB-A107-EF1E3AF2C071}"/>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51E4F811-C471-4FE6-8217-0404B455C3B8}"/>
              </a:ext>
            </a:extLst>
          </p:cNvPr>
          <p:cNvSpPr>
            <a:spLocks noGrp="1"/>
          </p:cNvSpPr>
          <p:nvPr>
            <p:ph idx="1"/>
          </p:nvPr>
        </p:nvSpPr>
        <p:spPr/>
        <p:txBody>
          <a:bodyPr>
            <a:normAutofit/>
          </a:bodyPr>
          <a:lstStyle/>
          <a:p>
            <a:r>
              <a:rPr lang="en-US" altLang="zh-TW" dirty="0"/>
              <a:t>Motivation</a:t>
            </a:r>
          </a:p>
          <a:p>
            <a:r>
              <a:rPr lang="en-US" altLang="zh-TW" dirty="0"/>
              <a:t>Serialization problems</a:t>
            </a:r>
          </a:p>
          <a:p>
            <a:pPr lvl="1"/>
            <a:r>
              <a:rPr lang="en-US" altLang="zh-TW" dirty="0"/>
              <a:t>Introduction to game engine serialization and the merge conflicts they may cause.</a:t>
            </a:r>
          </a:p>
          <a:p>
            <a:r>
              <a:rPr lang="en-US" altLang="zh-TW" dirty="0"/>
              <a:t>Merging</a:t>
            </a:r>
          </a:p>
          <a:p>
            <a:pPr lvl="1"/>
            <a:r>
              <a:rPr lang="en-US" altLang="zh-TW" dirty="0"/>
              <a:t>Game architecture to make merging trivial.</a:t>
            </a:r>
          </a:p>
          <a:p>
            <a:r>
              <a:rPr lang="en-US" altLang="zh-TW" dirty="0"/>
              <a:t>Rollback</a:t>
            </a:r>
          </a:p>
          <a:p>
            <a:pPr lvl="1"/>
            <a:r>
              <a:rPr lang="en-US" altLang="zh-TW" dirty="0"/>
              <a:t>Using Git to save your project from peril.</a:t>
            </a:r>
          </a:p>
        </p:txBody>
      </p:sp>
    </p:spTree>
    <p:extLst>
      <p:ext uri="{BB962C8B-B14F-4D97-AF65-F5344CB8AC3E}">
        <p14:creationId xmlns:p14="http://schemas.microsoft.com/office/powerpoint/2010/main" val="229553582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F7BCE1-D19B-43C5-AD61-F2E2F9F8245C}"/>
              </a:ext>
            </a:extLst>
          </p:cNvPr>
          <p:cNvSpPr>
            <a:spLocks noGrp="1"/>
          </p:cNvSpPr>
          <p:nvPr>
            <p:ph type="title"/>
          </p:nvPr>
        </p:nvSpPr>
        <p:spPr/>
        <p:txBody>
          <a:bodyPr/>
          <a:lstStyle/>
          <a:p>
            <a:r>
              <a:rPr lang="en-US" altLang="zh-TW" dirty="0"/>
              <a:t>Before we start…</a:t>
            </a:r>
            <a:endParaRPr lang="zh-TW" altLang="en-US" dirty="0"/>
          </a:p>
        </p:txBody>
      </p:sp>
      <p:sp>
        <p:nvSpPr>
          <p:cNvPr id="3" name="內容版面配置區 2">
            <a:extLst>
              <a:ext uri="{FF2B5EF4-FFF2-40B4-BE49-F238E27FC236}">
                <a16:creationId xmlns:a16="http://schemas.microsoft.com/office/drawing/2014/main" id="{97B64DC0-56AA-4495-81A2-5228CCBE6620}"/>
              </a:ext>
            </a:extLst>
          </p:cNvPr>
          <p:cNvSpPr>
            <a:spLocks noGrp="1"/>
          </p:cNvSpPr>
          <p:nvPr>
            <p:ph idx="1"/>
          </p:nvPr>
        </p:nvSpPr>
        <p:spPr/>
        <p:txBody>
          <a:bodyPr/>
          <a:lstStyle/>
          <a:p>
            <a:r>
              <a:rPr lang="en-US" altLang="zh-TW" dirty="0"/>
              <a:t>If you are still afraid of using Git because the command line interface scares you…</a:t>
            </a:r>
          </a:p>
          <a:p>
            <a:r>
              <a:rPr lang="en-US" altLang="zh-TW" b="1" dirty="0"/>
              <a:t>VS Code’s Git integrations </a:t>
            </a:r>
            <a:r>
              <a:rPr lang="en-US" altLang="zh-TW" dirty="0"/>
              <a:t>and </a:t>
            </a:r>
            <a:r>
              <a:rPr lang="en-US" altLang="zh-TW" b="1" dirty="0"/>
              <a:t>GitHub Desktop</a:t>
            </a:r>
            <a:r>
              <a:rPr lang="en-US" altLang="zh-TW" dirty="0"/>
              <a:t> (see Appendix) are both GUI that can simplify the process!</a:t>
            </a:r>
          </a:p>
          <a:p>
            <a:r>
              <a:rPr lang="en-US" altLang="zh-TW" dirty="0"/>
              <a:t>Don’t give up on Git yet! You can’t run from it forever, so </a:t>
            </a:r>
            <a:r>
              <a:rPr lang="en-US" altLang="zh-TW"/>
              <a:t>take this chance and </a:t>
            </a:r>
            <a:r>
              <a:rPr lang="en-US" altLang="zh-TW" dirty="0"/>
              <a:t>start now!</a:t>
            </a:r>
          </a:p>
        </p:txBody>
      </p:sp>
    </p:spTree>
    <p:extLst>
      <p:ext uri="{BB962C8B-B14F-4D97-AF65-F5344CB8AC3E}">
        <p14:creationId xmlns:p14="http://schemas.microsoft.com/office/powerpoint/2010/main" val="118845924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940EFA-F7F8-42A2-BCD7-9DD732149EDD}"/>
              </a:ext>
            </a:extLst>
          </p:cNvPr>
          <p:cNvSpPr>
            <a:spLocks noGrp="1"/>
          </p:cNvSpPr>
          <p:nvPr>
            <p:ph type="title"/>
          </p:nvPr>
        </p:nvSpPr>
        <p:spPr/>
        <p:txBody>
          <a:bodyPr/>
          <a:lstStyle/>
          <a:p>
            <a:r>
              <a:rPr lang="en-US" altLang="zh-TW" dirty="0"/>
              <a:t>Motivation</a:t>
            </a:r>
            <a:endParaRPr lang="zh-TW" altLang="en-US" dirty="0"/>
          </a:p>
        </p:txBody>
      </p:sp>
      <p:sp>
        <p:nvSpPr>
          <p:cNvPr id="3" name="內容版面配置區 2">
            <a:extLst>
              <a:ext uri="{FF2B5EF4-FFF2-40B4-BE49-F238E27FC236}">
                <a16:creationId xmlns:a16="http://schemas.microsoft.com/office/drawing/2014/main" id="{F6767F6D-BF0B-4C93-985E-EE4C536D554D}"/>
              </a:ext>
            </a:extLst>
          </p:cNvPr>
          <p:cNvSpPr>
            <a:spLocks noGrp="1"/>
          </p:cNvSpPr>
          <p:nvPr>
            <p:ph idx="1"/>
          </p:nvPr>
        </p:nvSpPr>
        <p:spPr/>
        <p:txBody>
          <a:bodyPr/>
          <a:lstStyle/>
          <a:p>
            <a:r>
              <a:rPr lang="en-US" altLang="zh-TW" dirty="0"/>
              <a:t>You’re a group of programmers working on the same game.</a:t>
            </a:r>
          </a:p>
          <a:p>
            <a:r>
              <a:rPr lang="en-US" altLang="zh-TW" dirty="0"/>
              <a:t>You must work </a:t>
            </a:r>
            <a:r>
              <a:rPr lang="en-US" altLang="zh-TW" i="1" dirty="0"/>
              <a:t>together</a:t>
            </a:r>
            <a:r>
              <a:rPr lang="en-US" altLang="zh-TW" dirty="0"/>
              <a:t>, but what are the implications?</a:t>
            </a:r>
          </a:p>
          <a:p>
            <a:pPr lvl="1"/>
            <a:r>
              <a:rPr lang="en-US" altLang="zh-TW" dirty="0"/>
              <a:t>Communication overhead</a:t>
            </a:r>
          </a:p>
          <a:p>
            <a:pPr lvl="2"/>
            <a:r>
              <a:rPr lang="en-US" altLang="zh-TW" dirty="0"/>
              <a:t>Time spent on getting ideas across each other.</a:t>
            </a:r>
          </a:p>
          <a:p>
            <a:pPr lvl="1"/>
            <a:r>
              <a:rPr lang="en-US" altLang="zh-TW" b="1" dirty="0"/>
              <a:t>Synchronization overhead</a:t>
            </a:r>
          </a:p>
          <a:p>
            <a:pPr lvl="2"/>
            <a:r>
              <a:rPr lang="en-US" altLang="zh-TW" dirty="0"/>
              <a:t>Time spent on waiting for another person, and time spent on merging changes from different people.</a:t>
            </a:r>
          </a:p>
        </p:txBody>
      </p:sp>
    </p:spTree>
    <p:extLst>
      <p:ext uri="{BB962C8B-B14F-4D97-AF65-F5344CB8AC3E}">
        <p14:creationId xmlns:p14="http://schemas.microsoft.com/office/powerpoint/2010/main" val="391035715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291954-3BD4-4C13-9E14-98F3DE016EFF}"/>
              </a:ext>
            </a:extLst>
          </p:cNvPr>
          <p:cNvSpPr>
            <a:spLocks noGrp="1"/>
          </p:cNvSpPr>
          <p:nvPr>
            <p:ph type="title"/>
          </p:nvPr>
        </p:nvSpPr>
        <p:spPr/>
        <p:txBody>
          <a:bodyPr/>
          <a:lstStyle/>
          <a:p>
            <a:r>
              <a:rPr lang="en-US" altLang="zh-TW" dirty="0"/>
              <a:t>Motivation</a:t>
            </a:r>
            <a:endParaRPr lang="zh-TW" altLang="en-US" dirty="0"/>
          </a:p>
        </p:txBody>
      </p:sp>
      <p:sp>
        <p:nvSpPr>
          <p:cNvPr id="3" name="內容版面配置區 2">
            <a:extLst>
              <a:ext uri="{FF2B5EF4-FFF2-40B4-BE49-F238E27FC236}">
                <a16:creationId xmlns:a16="http://schemas.microsoft.com/office/drawing/2014/main" id="{E6F90373-80FA-4182-86AC-0FA5B575A072}"/>
              </a:ext>
            </a:extLst>
          </p:cNvPr>
          <p:cNvSpPr>
            <a:spLocks noGrp="1"/>
          </p:cNvSpPr>
          <p:nvPr>
            <p:ph idx="1"/>
          </p:nvPr>
        </p:nvSpPr>
        <p:spPr/>
        <p:txBody>
          <a:bodyPr/>
          <a:lstStyle/>
          <a:p>
            <a:r>
              <a:rPr lang="en-US" altLang="zh-TW" dirty="0"/>
              <a:t>You can reduce time spent on waiting by increasing the degree of parallelism.</a:t>
            </a:r>
          </a:p>
          <a:p>
            <a:pPr lvl="1"/>
            <a:r>
              <a:rPr lang="en-US" altLang="zh-TW" dirty="0"/>
              <a:t>More people working on separate modules that can be designed separately.</a:t>
            </a:r>
          </a:p>
          <a:p>
            <a:pPr lvl="1"/>
            <a:r>
              <a:rPr lang="en-US" altLang="zh-TW" dirty="0"/>
              <a:t>This just requires </a:t>
            </a:r>
            <a:r>
              <a:rPr lang="en-US" altLang="zh-TW" b="1" dirty="0"/>
              <a:t>good planning</a:t>
            </a:r>
            <a:r>
              <a:rPr lang="en-US" altLang="zh-TW" dirty="0"/>
              <a:t>.</a:t>
            </a:r>
          </a:p>
          <a:p>
            <a:r>
              <a:rPr lang="en-US" altLang="zh-TW" dirty="0"/>
              <a:t>But with increased parallelism, you’ll have to deal with greater synchronization overhead.</a:t>
            </a:r>
          </a:p>
        </p:txBody>
      </p:sp>
    </p:spTree>
    <p:extLst>
      <p:ext uri="{BB962C8B-B14F-4D97-AF65-F5344CB8AC3E}">
        <p14:creationId xmlns:p14="http://schemas.microsoft.com/office/powerpoint/2010/main" val="38037952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A75D4-F896-472E-9912-2DAAC0E95160}"/>
              </a:ext>
            </a:extLst>
          </p:cNvPr>
          <p:cNvSpPr>
            <a:spLocks noGrp="1"/>
          </p:cNvSpPr>
          <p:nvPr>
            <p:ph type="title"/>
          </p:nvPr>
        </p:nvSpPr>
        <p:spPr/>
        <p:txBody>
          <a:bodyPr/>
          <a:lstStyle/>
          <a:p>
            <a:r>
              <a:rPr lang="en-US" altLang="zh-TW" dirty="0"/>
              <a:t>Motivation</a:t>
            </a:r>
            <a:endParaRPr lang="zh-TW" altLang="en-US" dirty="0"/>
          </a:p>
        </p:txBody>
      </p:sp>
      <p:sp>
        <p:nvSpPr>
          <p:cNvPr id="3" name="內容版面配置區 2">
            <a:extLst>
              <a:ext uri="{FF2B5EF4-FFF2-40B4-BE49-F238E27FC236}">
                <a16:creationId xmlns:a16="http://schemas.microsoft.com/office/drawing/2014/main" id="{C69540BA-A072-40E7-AC92-DF07E6F5D6EE}"/>
              </a:ext>
            </a:extLst>
          </p:cNvPr>
          <p:cNvSpPr>
            <a:spLocks noGrp="1"/>
          </p:cNvSpPr>
          <p:nvPr>
            <p:ph idx="1"/>
          </p:nvPr>
        </p:nvSpPr>
        <p:spPr/>
        <p:txBody>
          <a:bodyPr/>
          <a:lstStyle/>
          <a:p>
            <a:r>
              <a:rPr lang="en-US" altLang="zh-TW" dirty="0"/>
              <a:t>Students in the past years have faced serious troubles with this overhead.</a:t>
            </a:r>
          </a:p>
          <a:p>
            <a:r>
              <a:rPr lang="en-US" altLang="zh-TW" dirty="0"/>
              <a:t>One group reported to have encountered </a:t>
            </a:r>
            <a:r>
              <a:rPr lang="en-US" altLang="zh-TW" b="1" dirty="0">
                <a:solidFill>
                  <a:srgbClr val="FF0000"/>
                </a:solidFill>
              </a:rPr>
              <a:t>over 700 lines of merge conflicts</a:t>
            </a:r>
            <a:r>
              <a:rPr lang="en-US" altLang="zh-TW" dirty="0"/>
              <a:t>.</a:t>
            </a:r>
          </a:p>
          <a:p>
            <a:r>
              <a:rPr lang="en-US" altLang="zh-TW" dirty="0"/>
              <a:t>We will teach you how to plan your workflow and software architecture to avoid those nasty problems!</a:t>
            </a:r>
          </a:p>
        </p:txBody>
      </p:sp>
    </p:spTree>
    <p:extLst>
      <p:ext uri="{BB962C8B-B14F-4D97-AF65-F5344CB8AC3E}">
        <p14:creationId xmlns:p14="http://schemas.microsoft.com/office/powerpoint/2010/main" val="183363349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18CCBC-5BAD-41B2-B5F0-8615CDA7352E}"/>
              </a:ext>
            </a:extLst>
          </p:cNvPr>
          <p:cNvSpPr>
            <a:spLocks noGrp="1"/>
          </p:cNvSpPr>
          <p:nvPr>
            <p:ph type="title"/>
          </p:nvPr>
        </p:nvSpPr>
        <p:spPr/>
        <p:txBody>
          <a:bodyPr/>
          <a:lstStyle/>
          <a:p>
            <a:r>
              <a:rPr lang="en-US" altLang="zh-TW" dirty="0"/>
              <a:t>Version Control</a:t>
            </a:r>
            <a:endParaRPr lang="zh-TW" altLang="en-US" dirty="0"/>
          </a:p>
        </p:txBody>
      </p:sp>
      <p:sp>
        <p:nvSpPr>
          <p:cNvPr id="3" name="內容版面配置區 2">
            <a:extLst>
              <a:ext uri="{FF2B5EF4-FFF2-40B4-BE49-F238E27FC236}">
                <a16:creationId xmlns:a16="http://schemas.microsoft.com/office/drawing/2014/main" id="{7BF050AA-2A03-49EB-8199-C8FA246436C6}"/>
              </a:ext>
            </a:extLst>
          </p:cNvPr>
          <p:cNvSpPr>
            <a:spLocks noGrp="1"/>
          </p:cNvSpPr>
          <p:nvPr>
            <p:ph idx="1"/>
          </p:nvPr>
        </p:nvSpPr>
        <p:spPr/>
        <p:txBody>
          <a:bodyPr>
            <a:normAutofit/>
          </a:bodyPr>
          <a:lstStyle/>
          <a:p>
            <a:r>
              <a:rPr lang="en-US" altLang="zh-TW" dirty="0"/>
              <a:t>In the first two weeks of this course, we introduced version control with </a:t>
            </a:r>
            <a:r>
              <a:rPr lang="en-US" altLang="zh-TW" b="1" dirty="0"/>
              <a:t>Git</a:t>
            </a:r>
            <a:r>
              <a:rPr lang="en-US" altLang="zh-TW" dirty="0"/>
              <a:t>, which helps us develop software asynchronously.</a:t>
            </a:r>
          </a:p>
          <a:p>
            <a:r>
              <a:rPr lang="en-US" altLang="zh-TW" dirty="0"/>
              <a:t>It is important to remember that Git is designed with </a:t>
            </a:r>
            <a:r>
              <a:rPr lang="en-US" altLang="zh-TW" b="1" dirty="0"/>
              <a:t>human-written code</a:t>
            </a:r>
            <a:r>
              <a:rPr lang="en-US" altLang="zh-TW" dirty="0"/>
              <a:t> in mind.</a:t>
            </a:r>
          </a:p>
        </p:txBody>
      </p:sp>
    </p:spTree>
    <p:extLst>
      <p:ext uri="{BB962C8B-B14F-4D97-AF65-F5344CB8AC3E}">
        <p14:creationId xmlns:p14="http://schemas.microsoft.com/office/powerpoint/2010/main" val="394495539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1270A0-7A55-4CA2-9EB8-D2DBDEEA3F2E}"/>
              </a:ext>
            </a:extLst>
          </p:cNvPr>
          <p:cNvSpPr>
            <a:spLocks noGrp="1"/>
          </p:cNvSpPr>
          <p:nvPr>
            <p:ph type="title"/>
          </p:nvPr>
        </p:nvSpPr>
        <p:spPr/>
        <p:txBody>
          <a:bodyPr/>
          <a:lstStyle/>
          <a:p>
            <a:r>
              <a:rPr lang="en-US" altLang="zh-TW" dirty="0"/>
              <a:t>Version Control</a:t>
            </a:r>
            <a:endParaRPr lang="zh-TW" altLang="en-US" dirty="0"/>
          </a:p>
        </p:txBody>
      </p:sp>
      <p:sp>
        <p:nvSpPr>
          <p:cNvPr id="3" name="內容版面配置區 2">
            <a:extLst>
              <a:ext uri="{FF2B5EF4-FFF2-40B4-BE49-F238E27FC236}">
                <a16:creationId xmlns:a16="http://schemas.microsoft.com/office/drawing/2014/main" id="{8A2C7FBD-0129-4747-82D8-81409451EC7E}"/>
              </a:ext>
            </a:extLst>
          </p:cNvPr>
          <p:cNvSpPr>
            <a:spLocks noGrp="1"/>
          </p:cNvSpPr>
          <p:nvPr>
            <p:ph idx="1"/>
          </p:nvPr>
        </p:nvSpPr>
        <p:spPr/>
        <p:txBody>
          <a:bodyPr/>
          <a:lstStyle/>
          <a:p>
            <a:r>
              <a:rPr lang="en-US" altLang="zh-TW" dirty="0"/>
              <a:t>But, in a game project, there are </a:t>
            </a:r>
            <a:r>
              <a:rPr lang="en-US" altLang="zh-TW" b="1" dirty="0"/>
              <a:t>large binaries (.</a:t>
            </a:r>
            <a:r>
              <a:rPr lang="en-US" altLang="zh-TW" b="1" dirty="0" err="1"/>
              <a:t>png</a:t>
            </a:r>
            <a:r>
              <a:rPr lang="en-US" altLang="zh-TW" b="1" dirty="0"/>
              <a:t>, .wav, etc.)</a:t>
            </a:r>
            <a:r>
              <a:rPr lang="en-US" altLang="zh-TW" dirty="0"/>
              <a:t> and </a:t>
            </a:r>
            <a:r>
              <a:rPr lang="en-US" altLang="zh-TW" b="1" dirty="0"/>
              <a:t>computer-generated data</a:t>
            </a:r>
            <a:r>
              <a:rPr lang="en-US" altLang="zh-TW" dirty="0"/>
              <a:t>, the latter of which does not work well with most VCS.</a:t>
            </a:r>
          </a:p>
          <a:p>
            <a:r>
              <a:rPr lang="en-US" altLang="zh-TW" dirty="0"/>
              <a:t>That doesn’t mean you shouldn’t use Git – It’s the best choice available, but there are important things to watch out when using it.</a:t>
            </a:r>
          </a:p>
        </p:txBody>
      </p:sp>
    </p:spTree>
    <p:extLst>
      <p:ext uri="{BB962C8B-B14F-4D97-AF65-F5344CB8AC3E}">
        <p14:creationId xmlns:p14="http://schemas.microsoft.com/office/powerpoint/2010/main" val="423224734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023576-BAC3-460C-8602-3F26EB9918C1}"/>
              </a:ext>
            </a:extLst>
          </p:cNvPr>
          <p:cNvSpPr>
            <a:spLocks noGrp="1"/>
          </p:cNvSpPr>
          <p:nvPr>
            <p:ph type="title"/>
          </p:nvPr>
        </p:nvSpPr>
        <p:spPr/>
        <p:txBody>
          <a:bodyPr/>
          <a:lstStyle/>
          <a:p>
            <a:r>
              <a:rPr lang="en-US" altLang="zh-TW" dirty="0"/>
              <a:t>Project Structure</a:t>
            </a:r>
            <a:endParaRPr lang="zh-TW" altLang="en-US" dirty="0"/>
          </a:p>
        </p:txBody>
      </p:sp>
      <p:sp>
        <p:nvSpPr>
          <p:cNvPr id="3" name="內容版面配置區 2">
            <a:extLst>
              <a:ext uri="{FF2B5EF4-FFF2-40B4-BE49-F238E27FC236}">
                <a16:creationId xmlns:a16="http://schemas.microsoft.com/office/drawing/2014/main" id="{4A44D1BB-CF97-4E16-98C3-169DA8CC944C}"/>
              </a:ext>
            </a:extLst>
          </p:cNvPr>
          <p:cNvSpPr>
            <a:spLocks noGrp="1"/>
          </p:cNvSpPr>
          <p:nvPr>
            <p:ph idx="1"/>
          </p:nvPr>
        </p:nvSpPr>
        <p:spPr/>
        <p:txBody>
          <a:bodyPr>
            <a:normAutofit lnSpcReduction="10000"/>
          </a:bodyPr>
          <a:lstStyle/>
          <a:p>
            <a:r>
              <a:rPr lang="en-US" altLang="zh-TW" dirty="0"/>
              <a:t>The project structure of a video game differs greatly from other software.</a:t>
            </a:r>
          </a:p>
          <a:p>
            <a:r>
              <a:rPr lang="en-US" altLang="zh-TW" dirty="0"/>
              <a:t>While they all have a lot of code in it, game projects also have complex </a:t>
            </a:r>
            <a:r>
              <a:rPr lang="en-US" altLang="zh-TW" b="1" dirty="0"/>
              <a:t>serialized data</a:t>
            </a:r>
            <a:r>
              <a:rPr lang="en-US" altLang="zh-TW" dirty="0"/>
              <a:t> which need to be read by the underlying game engine.</a:t>
            </a:r>
          </a:p>
          <a:p>
            <a:r>
              <a:rPr lang="en-US" altLang="zh-TW" dirty="0"/>
              <a:t>These data are the primary cause of </a:t>
            </a:r>
            <a:r>
              <a:rPr lang="en-US" altLang="zh-TW" b="1" dirty="0"/>
              <a:t>hard-to-resolve merge conflicts</a:t>
            </a:r>
            <a:r>
              <a:rPr lang="en-US" altLang="zh-TW" dirty="0"/>
              <a:t> and </a:t>
            </a:r>
            <a:r>
              <a:rPr lang="en-US" altLang="zh-TW" b="1" dirty="0"/>
              <a:t>cryptic bugs</a:t>
            </a:r>
            <a:r>
              <a:rPr lang="en-US" altLang="zh-TW" dirty="0"/>
              <a:t>.</a:t>
            </a:r>
          </a:p>
        </p:txBody>
      </p:sp>
    </p:spTree>
    <p:extLst>
      <p:ext uri="{BB962C8B-B14F-4D97-AF65-F5344CB8AC3E}">
        <p14:creationId xmlns:p14="http://schemas.microsoft.com/office/powerpoint/2010/main" val="338487256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A1E74F5-14D3-40F7-975D-674F585BC31E}"/>
              </a:ext>
            </a:extLst>
          </p:cNvPr>
          <p:cNvSpPr>
            <a:spLocks noGrp="1"/>
          </p:cNvSpPr>
          <p:nvPr>
            <p:ph type="title"/>
          </p:nvPr>
        </p:nvSpPr>
        <p:spPr/>
        <p:txBody>
          <a:bodyPr/>
          <a:lstStyle/>
          <a:p>
            <a:r>
              <a:rPr lang="en-US" altLang="zh-TW" dirty="0"/>
              <a:t>SERIALIZATION PROBLEMS</a:t>
            </a:r>
            <a:endParaRPr lang="zh-TW" altLang="en-US" dirty="0"/>
          </a:p>
        </p:txBody>
      </p:sp>
      <p:sp>
        <p:nvSpPr>
          <p:cNvPr id="5" name="文字版面配置區 4">
            <a:extLst>
              <a:ext uri="{FF2B5EF4-FFF2-40B4-BE49-F238E27FC236}">
                <a16:creationId xmlns:a16="http://schemas.microsoft.com/office/drawing/2014/main" id="{088F31C8-FB1F-4EE3-955C-4554E3A4FE80}"/>
              </a:ext>
            </a:extLst>
          </p:cNvPr>
          <p:cNvSpPr>
            <a:spLocks noGrp="1"/>
          </p:cNvSpPr>
          <p:nvPr>
            <p:ph type="body" idx="1"/>
          </p:nvPr>
        </p:nvSpPr>
        <p:spPr/>
        <p:txBody>
          <a:bodyPr/>
          <a:lstStyle/>
          <a:p>
            <a:r>
              <a:rPr lang="en-US" altLang="zh-TW" dirty="0"/>
              <a:t>“It says my scene has merge conflicts, but I don’t know what any of the lines mean…”</a:t>
            </a:r>
            <a:endParaRPr lang="zh-TW" altLang="en-US" dirty="0"/>
          </a:p>
        </p:txBody>
      </p:sp>
    </p:spTree>
    <p:extLst>
      <p:ext uri="{BB962C8B-B14F-4D97-AF65-F5344CB8AC3E}">
        <p14:creationId xmlns:p14="http://schemas.microsoft.com/office/powerpoint/2010/main" val="110332210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84F19B-5CEF-47EA-8B1B-0A2E723C6BBD}"/>
              </a:ext>
            </a:extLst>
          </p:cNvPr>
          <p:cNvSpPr>
            <a:spLocks noGrp="1"/>
          </p:cNvSpPr>
          <p:nvPr>
            <p:ph type="title"/>
          </p:nvPr>
        </p:nvSpPr>
        <p:spPr/>
        <p:txBody>
          <a:bodyPr/>
          <a:lstStyle/>
          <a:p>
            <a:r>
              <a:rPr lang="en-US" altLang="zh-TW" dirty="0"/>
              <a:t>Serialization</a:t>
            </a:r>
            <a:endParaRPr lang="zh-TW" altLang="en-US" dirty="0"/>
          </a:p>
        </p:txBody>
      </p:sp>
      <p:sp>
        <p:nvSpPr>
          <p:cNvPr id="3" name="內容版面配置區 2">
            <a:extLst>
              <a:ext uri="{FF2B5EF4-FFF2-40B4-BE49-F238E27FC236}">
                <a16:creationId xmlns:a16="http://schemas.microsoft.com/office/drawing/2014/main" id="{B38E0345-ABF5-4F8B-913D-8A96D488453F}"/>
              </a:ext>
            </a:extLst>
          </p:cNvPr>
          <p:cNvSpPr>
            <a:spLocks noGrp="1"/>
          </p:cNvSpPr>
          <p:nvPr>
            <p:ph idx="1"/>
          </p:nvPr>
        </p:nvSpPr>
        <p:spPr/>
        <p:txBody>
          <a:bodyPr>
            <a:normAutofit lnSpcReduction="10000"/>
          </a:bodyPr>
          <a:lstStyle/>
          <a:p>
            <a:r>
              <a:rPr lang="en-US" altLang="zh-TW" dirty="0"/>
              <a:t>Most game engines produce serialized metadata (.meta) for whatever </a:t>
            </a:r>
            <a:r>
              <a:rPr lang="en-US" altLang="zh-TW" b="1" dirty="0"/>
              <a:t>asset</a:t>
            </a:r>
            <a:r>
              <a:rPr lang="en-US" altLang="zh-TW" dirty="0"/>
              <a:t> you import into it.</a:t>
            </a:r>
          </a:p>
          <a:p>
            <a:r>
              <a:rPr lang="en-US" altLang="zh-TW" b="1" dirty="0"/>
              <a:t>Scenes</a:t>
            </a:r>
            <a:r>
              <a:rPr lang="en-US" altLang="zh-TW" dirty="0"/>
              <a:t> (.fire) and </a:t>
            </a:r>
            <a:r>
              <a:rPr lang="en-US" altLang="zh-TW" b="1" dirty="0"/>
              <a:t>prefabs</a:t>
            </a:r>
            <a:r>
              <a:rPr lang="en-US" altLang="zh-TW" dirty="0"/>
              <a:t> (.prefab) are also serialized data a game engine reads to create objects in the game.</a:t>
            </a:r>
          </a:p>
          <a:p>
            <a:r>
              <a:rPr lang="en-US" altLang="zh-TW" dirty="0"/>
              <a:t>A common format used is the </a:t>
            </a:r>
            <a:r>
              <a:rPr lang="en-US" altLang="zh-TW" b="1" dirty="0"/>
              <a:t>JavaScript Object Notation (JSON)</a:t>
            </a:r>
            <a:r>
              <a:rPr lang="en-US" altLang="zh-TW" dirty="0"/>
              <a:t>, which is for the most part human-readable.</a:t>
            </a:r>
          </a:p>
        </p:txBody>
      </p:sp>
    </p:spTree>
    <p:extLst>
      <p:ext uri="{BB962C8B-B14F-4D97-AF65-F5344CB8AC3E}">
        <p14:creationId xmlns:p14="http://schemas.microsoft.com/office/powerpoint/2010/main" val="196127026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14CCD7-1156-430C-81E8-C49D3BA77FBF}"/>
              </a:ext>
            </a:extLst>
          </p:cNvPr>
          <p:cNvSpPr>
            <a:spLocks noGrp="1"/>
          </p:cNvSpPr>
          <p:nvPr>
            <p:ph type="title"/>
          </p:nvPr>
        </p:nvSpPr>
        <p:spPr/>
        <p:txBody>
          <a:bodyPr/>
          <a:lstStyle/>
          <a:p>
            <a:r>
              <a:rPr lang="en-US" altLang="zh-TW" dirty="0"/>
              <a:t>Serialization Example</a:t>
            </a:r>
            <a:endParaRPr lang="zh-TW" altLang="en-US" dirty="0"/>
          </a:p>
        </p:txBody>
      </p:sp>
      <p:pic>
        <p:nvPicPr>
          <p:cNvPr id="1026" name="Picture 2">
            <a:extLst>
              <a:ext uri="{FF2B5EF4-FFF2-40B4-BE49-F238E27FC236}">
                <a16:creationId xmlns:a16="http://schemas.microsoft.com/office/drawing/2014/main" id="{E90D8FAD-1E57-4DFB-9524-6233B898278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3568" y="1628800"/>
            <a:ext cx="3187864" cy="4140413"/>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F1505465-95E4-4361-A912-DB7CDD7F5FE8}"/>
              </a:ext>
            </a:extLst>
          </p:cNvPr>
          <p:cNvSpPr txBox="1"/>
          <p:nvPr/>
        </p:nvSpPr>
        <p:spPr>
          <a:xfrm>
            <a:off x="4860032" y="1628800"/>
            <a:ext cx="3187864" cy="923330"/>
          </a:xfrm>
          <a:prstGeom prst="rect">
            <a:avLst/>
          </a:prstGeom>
          <a:noFill/>
        </p:spPr>
        <p:txBody>
          <a:bodyPr wrap="square" rtlCol="0">
            <a:spAutoFit/>
          </a:bodyPr>
          <a:lstStyle/>
          <a:p>
            <a:r>
              <a:rPr lang="en-US" altLang="zh-TW" dirty="0"/>
              <a:t>This JSON segment is describing a component of type “</a:t>
            </a:r>
            <a:r>
              <a:rPr lang="en-US" altLang="zh-TW" dirty="0" err="1"/>
              <a:t>cc.PhysicsBoxCollider</a:t>
            </a:r>
            <a:r>
              <a:rPr lang="en-US" altLang="zh-TW" dirty="0"/>
              <a:t>”</a:t>
            </a:r>
            <a:endParaRPr lang="zh-TW" altLang="en-US" dirty="0"/>
          </a:p>
        </p:txBody>
      </p:sp>
      <p:sp>
        <p:nvSpPr>
          <p:cNvPr id="6" name="文字方塊 5">
            <a:extLst>
              <a:ext uri="{FF2B5EF4-FFF2-40B4-BE49-F238E27FC236}">
                <a16:creationId xmlns:a16="http://schemas.microsoft.com/office/drawing/2014/main" id="{733452A7-8A4E-4B2F-833E-C247BD968C3B}"/>
              </a:ext>
            </a:extLst>
          </p:cNvPr>
          <p:cNvSpPr txBox="1"/>
          <p:nvPr/>
        </p:nvSpPr>
        <p:spPr>
          <a:xfrm>
            <a:off x="4860032" y="2967335"/>
            <a:ext cx="3187864" cy="1477328"/>
          </a:xfrm>
          <a:prstGeom prst="rect">
            <a:avLst/>
          </a:prstGeom>
          <a:noFill/>
        </p:spPr>
        <p:txBody>
          <a:bodyPr wrap="square" rtlCol="0">
            <a:spAutoFit/>
          </a:bodyPr>
          <a:lstStyle/>
          <a:p>
            <a:r>
              <a:rPr lang="en-US" altLang="zh-TW" dirty="0"/>
              <a:t>These fields below would then correspond to its properties, which you would usually edit through the editor GUI.</a:t>
            </a:r>
            <a:endParaRPr lang="zh-TW" altLang="en-US" dirty="0"/>
          </a:p>
        </p:txBody>
      </p:sp>
      <p:sp>
        <p:nvSpPr>
          <p:cNvPr id="9" name="矩形 8">
            <a:extLst>
              <a:ext uri="{FF2B5EF4-FFF2-40B4-BE49-F238E27FC236}">
                <a16:creationId xmlns:a16="http://schemas.microsoft.com/office/drawing/2014/main" id="{FEC4CDC2-0CDD-41BE-B9B9-C99E662E700D}"/>
              </a:ext>
            </a:extLst>
          </p:cNvPr>
          <p:cNvSpPr/>
          <p:nvPr/>
        </p:nvSpPr>
        <p:spPr>
          <a:xfrm>
            <a:off x="765332" y="2708920"/>
            <a:ext cx="3187864" cy="27363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A8865A4C-01FE-4B47-95AE-61C668329FCF}"/>
              </a:ext>
            </a:extLst>
          </p:cNvPr>
          <p:cNvSpPr/>
          <p:nvPr/>
        </p:nvSpPr>
        <p:spPr>
          <a:xfrm>
            <a:off x="765332" y="3068960"/>
            <a:ext cx="3187864" cy="2376264"/>
          </a:xfrm>
          <a:prstGeom prst="rect">
            <a:avLst/>
          </a:prstGeom>
          <a:noFill/>
          <a:ln w="6350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F612C657-20D4-47A5-BD27-7CF7952C0627}"/>
              </a:ext>
            </a:extLst>
          </p:cNvPr>
          <p:cNvSpPr/>
          <p:nvPr/>
        </p:nvSpPr>
        <p:spPr>
          <a:xfrm>
            <a:off x="765332" y="1775247"/>
            <a:ext cx="3187864" cy="213593"/>
          </a:xfrm>
          <a:prstGeom prst="rect">
            <a:avLst/>
          </a:prstGeom>
          <a:noFill/>
          <a:ln w="6350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cxnSp>
        <p:nvCxnSpPr>
          <p:cNvPr id="14" name="直線單箭頭接點 13">
            <a:extLst>
              <a:ext uri="{FF2B5EF4-FFF2-40B4-BE49-F238E27FC236}">
                <a16:creationId xmlns:a16="http://schemas.microsoft.com/office/drawing/2014/main" id="{6E9B231B-5B19-47AE-9D60-A50B7824CBE1}"/>
              </a:ext>
            </a:extLst>
          </p:cNvPr>
          <p:cNvCxnSpPr>
            <a:stCxn id="6" idx="1"/>
            <a:endCxn id="11" idx="3"/>
          </p:cNvCxnSpPr>
          <p:nvPr/>
        </p:nvCxnSpPr>
        <p:spPr>
          <a:xfrm flipH="1">
            <a:off x="3953196" y="3705999"/>
            <a:ext cx="906836" cy="551093"/>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0384DE3A-4F6C-41C9-BB9A-658EE97003A6}"/>
              </a:ext>
            </a:extLst>
          </p:cNvPr>
          <p:cNvCxnSpPr>
            <a:cxnSpLocks/>
            <a:stCxn id="4" idx="1"/>
            <a:endCxn id="13" idx="3"/>
          </p:cNvCxnSpPr>
          <p:nvPr/>
        </p:nvCxnSpPr>
        <p:spPr>
          <a:xfrm flipH="1" flipV="1">
            <a:off x="3953196" y="1882044"/>
            <a:ext cx="906836" cy="208421"/>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51666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D0D834-666C-4B5C-B3FD-E92461EE41C5}"/>
              </a:ext>
            </a:extLst>
          </p:cNvPr>
          <p:cNvSpPr>
            <a:spLocks noGrp="1"/>
          </p:cNvSpPr>
          <p:nvPr>
            <p:ph type="title"/>
          </p:nvPr>
        </p:nvSpPr>
        <p:spPr/>
        <p:txBody>
          <a:bodyPr/>
          <a:lstStyle/>
          <a:p>
            <a:r>
              <a:rPr lang="en-US" altLang="zh-TW" dirty="0"/>
              <a:t>Serialization Example</a:t>
            </a:r>
            <a:endParaRPr lang="zh-TW" altLang="en-US" dirty="0"/>
          </a:p>
        </p:txBody>
      </p:sp>
      <p:pic>
        <p:nvPicPr>
          <p:cNvPr id="2050" name="Picture 2">
            <a:extLst>
              <a:ext uri="{FF2B5EF4-FFF2-40B4-BE49-F238E27FC236}">
                <a16:creationId xmlns:a16="http://schemas.microsoft.com/office/drawing/2014/main" id="{DA5C4649-FE91-4486-8D05-AB1302409E3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81532" y="1556792"/>
            <a:ext cx="4476159" cy="4525963"/>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DAB5EA90-E5FC-42BA-8D86-E8FDB3745A25}"/>
              </a:ext>
            </a:extLst>
          </p:cNvPr>
          <p:cNvSpPr txBox="1"/>
          <p:nvPr/>
        </p:nvSpPr>
        <p:spPr>
          <a:xfrm>
            <a:off x="4860032" y="1628800"/>
            <a:ext cx="3187864" cy="923330"/>
          </a:xfrm>
          <a:prstGeom prst="rect">
            <a:avLst/>
          </a:prstGeom>
          <a:noFill/>
        </p:spPr>
        <p:txBody>
          <a:bodyPr wrap="square" rtlCol="0">
            <a:spAutoFit/>
          </a:bodyPr>
          <a:lstStyle/>
          <a:p>
            <a:r>
              <a:rPr lang="en-US" altLang="zh-TW" dirty="0"/>
              <a:t>This JSON segment is describing a component of type???</a:t>
            </a:r>
            <a:endParaRPr lang="zh-TW" altLang="en-US" dirty="0"/>
          </a:p>
        </p:txBody>
      </p:sp>
      <p:sp>
        <p:nvSpPr>
          <p:cNvPr id="6" name="矩形 5">
            <a:extLst>
              <a:ext uri="{FF2B5EF4-FFF2-40B4-BE49-F238E27FC236}">
                <a16:creationId xmlns:a16="http://schemas.microsoft.com/office/drawing/2014/main" id="{679424A2-0593-4CF4-9E5A-BF0A8E672724}"/>
              </a:ext>
            </a:extLst>
          </p:cNvPr>
          <p:cNvSpPr/>
          <p:nvPr/>
        </p:nvSpPr>
        <p:spPr>
          <a:xfrm>
            <a:off x="611560" y="1689469"/>
            <a:ext cx="3335640" cy="227363"/>
          </a:xfrm>
          <a:prstGeom prst="rect">
            <a:avLst/>
          </a:prstGeom>
          <a:noFill/>
          <a:ln w="6350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cxnSp>
        <p:nvCxnSpPr>
          <p:cNvPr id="7" name="直線單箭頭接點 6">
            <a:extLst>
              <a:ext uri="{FF2B5EF4-FFF2-40B4-BE49-F238E27FC236}">
                <a16:creationId xmlns:a16="http://schemas.microsoft.com/office/drawing/2014/main" id="{EBD7E2D3-0B8F-4181-B188-54BC07D0EB38}"/>
              </a:ext>
            </a:extLst>
          </p:cNvPr>
          <p:cNvCxnSpPr>
            <a:cxnSpLocks/>
            <a:stCxn id="5" idx="1"/>
            <a:endCxn id="6" idx="3"/>
          </p:cNvCxnSpPr>
          <p:nvPr/>
        </p:nvCxnSpPr>
        <p:spPr>
          <a:xfrm flipH="1" flipV="1">
            <a:off x="3947200" y="1803151"/>
            <a:ext cx="912832" cy="287314"/>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4929E719-1DC2-43CE-B1FD-C0B343D0E0CE}"/>
              </a:ext>
            </a:extLst>
          </p:cNvPr>
          <p:cNvSpPr/>
          <p:nvPr/>
        </p:nvSpPr>
        <p:spPr>
          <a:xfrm>
            <a:off x="481532" y="5085184"/>
            <a:ext cx="4450508" cy="504056"/>
          </a:xfrm>
          <a:prstGeom prst="rect">
            <a:avLst/>
          </a:prstGeom>
          <a:noFill/>
          <a:ln w="63500">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cxnSp>
        <p:nvCxnSpPr>
          <p:cNvPr id="11" name="直線單箭頭接點 10">
            <a:extLst>
              <a:ext uri="{FF2B5EF4-FFF2-40B4-BE49-F238E27FC236}">
                <a16:creationId xmlns:a16="http://schemas.microsoft.com/office/drawing/2014/main" id="{2AC24FD1-0E76-480C-A8B2-085385172285}"/>
              </a:ext>
            </a:extLst>
          </p:cNvPr>
          <p:cNvCxnSpPr>
            <a:cxnSpLocks/>
            <a:stCxn id="12" idx="1"/>
            <a:endCxn id="10" idx="3"/>
          </p:cNvCxnSpPr>
          <p:nvPr/>
        </p:nvCxnSpPr>
        <p:spPr>
          <a:xfrm flipH="1">
            <a:off x="4932040" y="4561172"/>
            <a:ext cx="696808" cy="77604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8264A767-35C4-4DDA-A0D5-7FF23FF166F5}"/>
              </a:ext>
            </a:extLst>
          </p:cNvPr>
          <p:cNvSpPr txBox="1"/>
          <p:nvPr/>
        </p:nvSpPr>
        <p:spPr>
          <a:xfrm>
            <a:off x="5628848" y="4238006"/>
            <a:ext cx="3154364" cy="646331"/>
          </a:xfrm>
          <a:prstGeom prst="rect">
            <a:avLst/>
          </a:prstGeom>
          <a:noFill/>
        </p:spPr>
        <p:txBody>
          <a:bodyPr wrap="square" rtlCol="0">
            <a:spAutoFit/>
          </a:bodyPr>
          <a:lstStyle/>
          <a:p>
            <a:r>
              <a:rPr lang="en-US" altLang="zh-TW" dirty="0"/>
              <a:t>This might be referring to an audio clip, but which one?</a:t>
            </a:r>
            <a:endParaRPr lang="zh-TW" altLang="en-US" dirty="0"/>
          </a:p>
        </p:txBody>
      </p:sp>
    </p:spTree>
    <p:extLst>
      <p:ext uri="{BB962C8B-B14F-4D97-AF65-F5344CB8AC3E}">
        <p14:creationId xmlns:p14="http://schemas.microsoft.com/office/powerpoint/2010/main" val="412921496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7665C5-AE98-44E0-925A-9023D1CBB1A8}"/>
              </a:ext>
            </a:extLst>
          </p:cNvPr>
          <p:cNvSpPr>
            <a:spLocks noGrp="1"/>
          </p:cNvSpPr>
          <p:nvPr>
            <p:ph type="title"/>
          </p:nvPr>
        </p:nvSpPr>
        <p:spPr/>
        <p:txBody>
          <a:bodyPr/>
          <a:lstStyle/>
          <a:p>
            <a:r>
              <a:rPr lang="en-US" altLang="zh-TW" dirty="0"/>
              <a:t>Serialization</a:t>
            </a:r>
            <a:endParaRPr lang="zh-TW" altLang="en-US" dirty="0"/>
          </a:p>
        </p:txBody>
      </p:sp>
      <p:sp>
        <p:nvSpPr>
          <p:cNvPr id="3" name="內容版面配置區 2">
            <a:extLst>
              <a:ext uri="{FF2B5EF4-FFF2-40B4-BE49-F238E27FC236}">
                <a16:creationId xmlns:a16="http://schemas.microsoft.com/office/drawing/2014/main" id="{D2DF215B-9DC6-48CA-B8A7-0A4B41B852F2}"/>
              </a:ext>
            </a:extLst>
          </p:cNvPr>
          <p:cNvSpPr>
            <a:spLocks noGrp="1"/>
          </p:cNvSpPr>
          <p:nvPr>
            <p:ph idx="1"/>
          </p:nvPr>
        </p:nvSpPr>
        <p:spPr/>
        <p:txBody>
          <a:bodyPr/>
          <a:lstStyle/>
          <a:p>
            <a:r>
              <a:rPr lang="en-US" altLang="zh-TW" dirty="0"/>
              <a:t>The game engine recognizes assets and custom components in terms of unique identifiers, assigned when you import them into the project </a:t>
            </a:r>
            <a:r>
              <a:rPr lang="en-US" altLang="zh-TW" b="1" dirty="0"/>
              <a:t>through the editor</a:t>
            </a:r>
            <a:r>
              <a:rPr lang="en-US" altLang="zh-TW" dirty="0"/>
              <a:t>.</a:t>
            </a:r>
          </a:p>
          <a:p>
            <a:pPr lvl="1"/>
            <a:r>
              <a:rPr lang="en-US" altLang="zh-TW" dirty="0"/>
              <a:t>You can see these identifiers in the .meta files.</a:t>
            </a:r>
          </a:p>
          <a:p>
            <a:r>
              <a:rPr lang="en-US" altLang="zh-TW" dirty="0"/>
              <a:t>It will then refer to them through these identifiers in a scene or a prefab’s data.</a:t>
            </a:r>
          </a:p>
          <a:p>
            <a:r>
              <a:rPr lang="en-US" altLang="zh-TW" dirty="0"/>
              <a:t>This presents a source of </a:t>
            </a:r>
            <a:r>
              <a:rPr lang="en-US" altLang="zh-TW" b="1" dirty="0"/>
              <a:t>conflict</a:t>
            </a:r>
            <a:r>
              <a:rPr lang="en-US" altLang="zh-TW" dirty="0"/>
              <a:t>.</a:t>
            </a:r>
          </a:p>
        </p:txBody>
      </p:sp>
    </p:spTree>
    <p:extLst>
      <p:ext uri="{BB962C8B-B14F-4D97-AF65-F5344CB8AC3E}">
        <p14:creationId xmlns:p14="http://schemas.microsoft.com/office/powerpoint/2010/main" val="78041156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DEB76-2943-40FA-9A91-279744C635D8}"/>
              </a:ext>
            </a:extLst>
          </p:cNvPr>
          <p:cNvSpPr>
            <a:spLocks noGrp="1"/>
          </p:cNvSpPr>
          <p:nvPr>
            <p:ph type="title"/>
          </p:nvPr>
        </p:nvSpPr>
        <p:spPr/>
        <p:txBody>
          <a:bodyPr/>
          <a:lstStyle/>
          <a:p>
            <a:r>
              <a:rPr lang="en-US" altLang="zh-TW" dirty="0"/>
              <a:t>Serialization Conflict</a:t>
            </a:r>
            <a:endParaRPr lang="zh-TW" altLang="en-US" dirty="0"/>
          </a:p>
        </p:txBody>
      </p:sp>
      <p:sp>
        <p:nvSpPr>
          <p:cNvPr id="3" name="內容版面配置區 2">
            <a:extLst>
              <a:ext uri="{FF2B5EF4-FFF2-40B4-BE49-F238E27FC236}">
                <a16:creationId xmlns:a16="http://schemas.microsoft.com/office/drawing/2014/main" id="{473BBBA7-41E0-4020-818D-521A395ED8CE}"/>
              </a:ext>
            </a:extLst>
          </p:cNvPr>
          <p:cNvSpPr>
            <a:spLocks noGrp="1"/>
          </p:cNvSpPr>
          <p:nvPr>
            <p:ph idx="1"/>
          </p:nvPr>
        </p:nvSpPr>
        <p:spPr/>
        <p:txBody>
          <a:bodyPr>
            <a:normAutofit lnSpcReduction="10000"/>
          </a:bodyPr>
          <a:lstStyle/>
          <a:p>
            <a:r>
              <a:rPr lang="en-US" altLang="zh-TW" dirty="0"/>
              <a:t>Suppose that Alice and Bob are working together on a game.</a:t>
            </a:r>
          </a:p>
          <a:p>
            <a:r>
              <a:rPr lang="en-US" altLang="zh-TW" dirty="0"/>
              <a:t>Bob drew some sprites (.</a:t>
            </a:r>
            <a:r>
              <a:rPr lang="en-US" altLang="zh-TW" dirty="0" err="1"/>
              <a:t>png</a:t>
            </a:r>
            <a:r>
              <a:rPr lang="en-US" altLang="zh-TW" dirty="0"/>
              <a:t>) in his favorite painting software and used “Save As” to put them into the project. He then pushed the changes.</a:t>
            </a:r>
          </a:p>
          <a:p>
            <a:r>
              <a:rPr lang="en-US" altLang="zh-TW" dirty="0"/>
              <a:t>Alice received the changes, opened the project in the editor, and caused the editor to assign identifiers to those sprites.</a:t>
            </a:r>
          </a:p>
        </p:txBody>
      </p:sp>
    </p:spTree>
    <p:extLst>
      <p:ext uri="{BB962C8B-B14F-4D97-AF65-F5344CB8AC3E}">
        <p14:creationId xmlns:p14="http://schemas.microsoft.com/office/powerpoint/2010/main" val="405718976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DA9438-9958-4A4A-8BE5-AB56FB75F561}"/>
              </a:ext>
            </a:extLst>
          </p:cNvPr>
          <p:cNvSpPr>
            <a:spLocks noGrp="1"/>
          </p:cNvSpPr>
          <p:nvPr>
            <p:ph type="title"/>
          </p:nvPr>
        </p:nvSpPr>
        <p:spPr/>
        <p:txBody>
          <a:bodyPr/>
          <a:lstStyle/>
          <a:p>
            <a:r>
              <a:rPr lang="en-US" altLang="zh-TW" dirty="0"/>
              <a:t>Serialization Conflict (</a:t>
            </a:r>
            <a:r>
              <a:rPr lang="en-US" altLang="zh-TW" dirty="0" err="1"/>
              <a:t>Cont.d</a:t>
            </a:r>
            <a:r>
              <a:rPr lang="en-US" altLang="zh-TW" dirty="0"/>
              <a:t>)</a:t>
            </a:r>
            <a:endParaRPr lang="zh-TW" altLang="en-US" dirty="0"/>
          </a:p>
        </p:txBody>
      </p:sp>
      <p:sp>
        <p:nvSpPr>
          <p:cNvPr id="3" name="內容版面配置區 2">
            <a:extLst>
              <a:ext uri="{FF2B5EF4-FFF2-40B4-BE49-F238E27FC236}">
                <a16:creationId xmlns:a16="http://schemas.microsoft.com/office/drawing/2014/main" id="{D8ECA477-320A-4F54-9D98-53223FAA4314}"/>
              </a:ext>
            </a:extLst>
          </p:cNvPr>
          <p:cNvSpPr>
            <a:spLocks noGrp="1"/>
          </p:cNvSpPr>
          <p:nvPr>
            <p:ph idx="1"/>
          </p:nvPr>
        </p:nvSpPr>
        <p:spPr/>
        <p:txBody>
          <a:bodyPr>
            <a:normAutofit/>
          </a:bodyPr>
          <a:lstStyle/>
          <a:p>
            <a:r>
              <a:rPr lang="en-US" altLang="zh-TW" dirty="0"/>
              <a:t>Some time later, Bob opened the project again, and generated identifiers for his sprites. Alice told him that she had just integrated the sprites into a scene, and that she had pushed the changes.</a:t>
            </a:r>
          </a:p>
          <a:p>
            <a:r>
              <a:rPr lang="en-US" altLang="zh-TW" dirty="0"/>
              <a:t>Bob then pulled the changes, only to be met by multiple merge conflicts over the </a:t>
            </a:r>
            <a:r>
              <a:rPr lang="en-US" altLang="zh-TW" b="1" dirty="0"/>
              <a:t>metadata</a:t>
            </a:r>
            <a:r>
              <a:rPr lang="en-US" altLang="zh-TW" dirty="0"/>
              <a:t> of the new sprites.</a:t>
            </a:r>
            <a:endParaRPr lang="zh-TW" altLang="en-US" dirty="0"/>
          </a:p>
        </p:txBody>
      </p:sp>
    </p:spTree>
    <p:extLst>
      <p:ext uri="{BB962C8B-B14F-4D97-AF65-F5344CB8AC3E}">
        <p14:creationId xmlns:p14="http://schemas.microsoft.com/office/powerpoint/2010/main" val="56855975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1FAA71-75F0-460C-B862-59E29ADA7815}"/>
              </a:ext>
            </a:extLst>
          </p:cNvPr>
          <p:cNvSpPr>
            <a:spLocks noGrp="1"/>
          </p:cNvSpPr>
          <p:nvPr>
            <p:ph type="title"/>
          </p:nvPr>
        </p:nvSpPr>
        <p:spPr/>
        <p:txBody>
          <a:bodyPr/>
          <a:lstStyle/>
          <a:p>
            <a:r>
              <a:rPr lang="en-US" altLang="zh-TW" dirty="0"/>
              <a:t>Serialization Conflict (</a:t>
            </a:r>
            <a:r>
              <a:rPr lang="en-US" altLang="zh-TW" dirty="0" err="1"/>
              <a:t>Cont.d</a:t>
            </a:r>
            <a:r>
              <a:rPr lang="en-US" altLang="zh-TW" dirty="0"/>
              <a:t>)</a:t>
            </a:r>
            <a:endParaRPr lang="zh-TW" altLang="en-US" dirty="0"/>
          </a:p>
        </p:txBody>
      </p:sp>
      <p:sp>
        <p:nvSpPr>
          <p:cNvPr id="3" name="內容版面配置區 2">
            <a:extLst>
              <a:ext uri="{FF2B5EF4-FFF2-40B4-BE49-F238E27FC236}">
                <a16:creationId xmlns:a16="http://schemas.microsoft.com/office/drawing/2014/main" id="{E581FC45-8809-4048-AC9E-3E8D87F182CF}"/>
              </a:ext>
            </a:extLst>
          </p:cNvPr>
          <p:cNvSpPr>
            <a:spLocks noGrp="1"/>
          </p:cNvSpPr>
          <p:nvPr>
            <p:ph idx="1"/>
          </p:nvPr>
        </p:nvSpPr>
        <p:spPr/>
        <p:txBody>
          <a:bodyPr>
            <a:normAutofit/>
          </a:bodyPr>
          <a:lstStyle/>
          <a:p>
            <a:r>
              <a:rPr lang="en-US" altLang="zh-TW" dirty="0"/>
              <a:t>What happened here is that Bob and Alice managed to generate </a:t>
            </a:r>
            <a:r>
              <a:rPr lang="en-US" altLang="zh-TW" b="1" dirty="0"/>
              <a:t>two different sets of identifiers</a:t>
            </a:r>
            <a:r>
              <a:rPr lang="en-US" altLang="zh-TW" dirty="0"/>
              <a:t> for the new sprites Bob had made.</a:t>
            </a:r>
          </a:p>
          <a:p>
            <a:r>
              <a:rPr lang="en-US" altLang="zh-TW" dirty="0"/>
              <a:t>When Alice pushed the changes made to the scene, the scene’s metadata refers to those sprites in terms of the identifiers in </a:t>
            </a:r>
            <a:r>
              <a:rPr lang="en-US" altLang="zh-TW" b="1" dirty="0"/>
              <a:t>Alice’s</a:t>
            </a:r>
            <a:r>
              <a:rPr lang="en-US" altLang="zh-TW" dirty="0"/>
              <a:t> branch.</a:t>
            </a:r>
          </a:p>
        </p:txBody>
      </p:sp>
    </p:spTree>
    <p:extLst>
      <p:ext uri="{BB962C8B-B14F-4D97-AF65-F5344CB8AC3E}">
        <p14:creationId xmlns:p14="http://schemas.microsoft.com/office/powerpoint/2010/main" val="47012778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1FAA71-75F0-460C-B862-59E29ADA7815}"/>
              </a:ext>
            </a:extLst>
          </p:cNvPr>
          <p:cNvSpPr>
            <a:spLocks noGrp="1"/>
          </p:cNvSpPr>
          <p:nvPr>
            <p:ph type="title"/>
          </p:nvPr>
        </p:nvSpPr>
        <p:spPr/>
        <p:txBody>
          <a:bodyPr/>
          <a:lstStyle/>
          <a:p>
            <a:r>
              <a:rPr lang="en-US" altLang="zh-TW" dirty="0"/>
              <a:t>Serialization Conflict (</a:t>
            </a:r>
            <a:r>
              <a:rPr lang="en-US" altLang="zh-TW" dirty="0" err="1"/>
              <a:t>Cont.d</a:t>
            </a:r>
            <a:r>
              <a:rPr lang="en-US" altLang="zh-TW" dirty="0"/>
              <a:t>)</a:t>
            </a:r>
            <a:endParaRPr lang="zh-TW" altLang="en-US" dirty="0"/>
          </a:p>
        </p:txBody>
      </p:sp>
      <p:sp>
        <p:nvSpPr>
          <p:cNvPr id="3" name="內容版面配置區 2">
            <a:extLst>
              <a:ext uri="{FF2B5EF4-FFF2-40B4-BE49-F238E27FC236}">
                <a16:creationId xmlns:a16="http://schemas.microsoft.com/office/drawing/2014/main" id="{E581FC45-8809-4048-AC9E-3E8D87F182CF}"/>
              </a:ext>
            </a:extLst>
          </p:cNvPr>
          <p:cNvSpPr>
            <a:spLocks noGrp="1"/>
          </p:cNvSpPr>
          <p:nvPr>
            <p:ph idx="1"/>
          </p:nvPr>
        </p:nvSpPr>
        <p:spPr/>
        <p:txBody>
          <a:bodyPr>
            <a:normAutofit/>
          </a:bodyPr>
          <a:lstStyle/>
          <a:p>
            <a:r>
              <a:rPr lang="en-US" altLang="zh-TW" dirty="0"/>
              <a:t>In this simple case, </a:t>
            </a:r>
            <a:r>
              <a:rPr lang="en-US" altLang="zh-TW" b="1" dirty="0"/>
              <a:t>Bob should use Alice’s version</a:t>
            </a:r>
            <a:r>
              <a:rPr lang="en-US" altLang="zh-TW" dirty="0"/>
              <a:t>, but things could get tricky if Bob had made other changes in the meantime, or if they had been working with a third person.</a:t>
            </a:r>
            <a:endParaRPr lang="zh-TW" altLang="en-US" dirty="0"/>
          </a:p>
        </p:txBody>
      </p:sp>
    </p:spTree>
    <p:extLst>
      <p:ext uri="{BB962C8B-B14F-4D97-AF65-F5344CB8AC3E}">
        <p14:creationId xmlns:p14="http://schemas.microsoft.com/office/powerpoint/2010/main" val="282691089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69A3A7-32CB-4E5D-A92A-61D9613B5539}"/>
              </a:ext>
            </a:extLst>
          </p:cNvPr>
          <p:cNvSpPr>
            <a:spLocks noGrp="1"/>
          </p:cNvSpPr>
          <p:nvPr>
            <p:ph type="title"/>
          </p:nvPr>
        </p:nvSpPr>
        <p:spPr/>
        <p:txBody>
          <a:bodyPr>
            <a:normAutofit fontScale="90000"/>
          </a:bodyPr>
          <a:lstStyle/>
          <a:p>
            <a:r>
              <a:rPr lang="en-US" altLang="zh-TW" dirty="0"/>
              <a:t>Serialization Conflict (Solution)</a:t>
            </a:r>
            <a:endParaRPr lang="zh-TW" altLang="en-US" dirty="0"/>
          </a:p>
        </p:txBody>
      </p:sp>
      <p:sp>
        <p:nvSpPr>
          <p:cNvPr id="3" name="內容版面配置區 2">
            <a:extLst>
              <a:ext uri="{FF2B5EF4-FFF2-40B4-BE49-F238E27FC236}">
                <a16:creationId xmlns:a16="http://schemas.microsoft.com/office/drawing/2014/main" id="{A4FCD1BA-55C7-4896-A0F2-5AE5FA63E7B6}"/>
              </a:ext>
            </a:extLst>
          </p:cNvPr>
          <p:cNvSpPr>
            <a:spLocks noGrp="1"/>
          </p:cNvSpPr>
          <p:nvPr>
            <p:ph idx="1"/>
          </p:nvPr>
        </p:nvSpPr>
        <p:spPr/>
        <p:txBody>
          <a:bodyPr/>
          <a:lstStyle/>
          <a:p>
            <a:r>
              <a:rPr lang="en-US" altLang="zh-TW" dirty="0"/>
              <a:t>To avoid this situation altogether, Bob should’ve pushed the identifiers </a:t>
            </a:r>
            <a:r>
              <a:rPr lang="en-US" altLang="zh-TW" b="1" dirty="0"/>
              <a:t>alongside</a:t>
            </a:r>
            <a:r>
              <a:rPr lang="en-US" altLang="zh-TW" dirty="0"/>
              <a:t> the new sprites.</a:t>
            </a:r>
          </a:p>
          <a:p>
            <a:r>
              <a:rPr lang="en-US" altLang="zh-TW" dirty="0"/>
              <a:t>To ensure that this is always the case, Bob should intentionally trigger the game engine’s import process by moving the new sprites’ files into the project </a:t>
            </a:r>
            <a:r>
              <a:rPr lang="en-US" altLang="zh-TW" b="1" dirty="0"/>
              <a:t>through the editor</a:t>
            </a:r>
            <a:r>
              <a:rPr lang="en-US" altLang="zh-TW" dirty="0"/>
              <a:t>.</a:t>
            </a:r>
            <a:endParaRPr lang="zh-TW" altLang="en-US" dirty="0"/>
          </a:p>
        </p:txBody>
      </p:sp>
    </p:spTree>
    <p:extLst>
      <p:ext uri="{BB962C8B-B14F-4D97-AF65-F5344CB8AC3E}">
        <p14:creationId xmlns:p14="http://schemas.microsoft.com/office/powerpoint/2010/main" val="361450506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8B1EFA-A3F1-47F7-A412-4161EE145D17}"/>
              </a:ext>
            </a:extLst>
          </p:cNvPr>
          <p:cNvSpPr>
            <a:spLocks noGrp="1"/>
          </p:cNvSpPr>
          <p:nvPr>
            <p:ph type="title"/>
          </p:nvPr>
        </p:nvSpPr>
        <p:spPr/>
        <p:txBody>
          <a:bodyPr/>
          <a:lstStyle/>
          <a:p>
            <a:r>
              <a:rPr lang="en-US" altLang="zh-TW" dirty="0"/>
              <a:t>Class Serialization</a:t>
            </a:r>
            <a:endParaRPr lang="zh-TW" altLang="en-US" dirty="0"/>
          </a:p>
        </p:txBody>
      </p:sp>
      <p:sp>
        <p:nvSpPr>
          <p:cNvPr id="3" name="內容版面配置區 2">
            <a:extLst>
              <a:ext uri="{FF2B5EF4-FFF2-40B4-BE49-F238E27FC236}">
                <a16:creationId xmlns:a16="http://schemas.microsoft.com/office/drawing/2014/main" id="{7227DDE9-FF26-49A1-A130-89B2E7AC33F8}"/>
              </a:ext>
            </a:extLst>
          </p:cNvPr>
          <p:cNvSpPr>
            <a:spLocks noGrp="1"/>
          </p:cNvSpPr>
          <p:nvPr>
            <p:ph idx="1"/>
          </p:nvPr>
        </p:nvSpPr>
        <p:spPr/>
        <p:txBody>
          <a:bodyPr/>
          <a:lstStyle/>
          <a:p>
            <a:r>
              <a:rPr lang="en-US" altLang="zh-TW" dirty="0"/>
              <a:t>Another big issue with serialization comes from converting a class definition into a script component.</a:t>
            </a:r>
          </a:p>
          <a:p>
            <a:r>
              <a:rPr lang="en-US" altLang="zh-TW" dirty="0"/>
              <a:t>Internally, custom components must be registered to / unregistered from the project’s records. This is done when </a:t>
            </a:r>
            <a:r>
              <a:rPr lang="en-US" altLang="zh-TW" b="1" dirty="0"/>
              <a:t>the script containing the component is first imported. (Usually upon creation)</a:t>
            </a:r>
            <a:endParaRPr lang="en-US" altLang="zh-TW" dirty="0"/>
          </a:p>
          <a:p>
            <a:endParaRPr lang="en-US" altLang="zh-TW" dirty="0"/>
          </a:p>
        </p:txBody>
      </p:sp>
    </p:spTree>
    <p:extLst>
      <p:ext uri="{BB962C8B-B14F-4D97-AF65-F5344CB8AC3E}">
        <p14:creationId xmlns:p14="http://schemas.microsoft.com/office/powerpoint/2010/main" val="29673921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651760-DE77-469A-983D-B82C9941B50C}"/>
              </a:ext>
            </a:extLst>
          </p:cNvPr>
          <p:cNvSpPr>
            <a:spLocks noGrp="1"/>
          </p:cNvSpPr>
          <p:nvPr>
            <p:ph type="title"/>
          </p:nvPr>
        </p:nvSpPr>
        <p:spPr/>
        <p:txBody>
          <a:bodyPr/>
          <a:lstStyle/>
          <a:p>
            <a:r>
              <a:rPr lang="en-US" altLang="zh-TW" dirty="0"/>
              <a:t>Class Serialization (Solution)</a:t>
            </a:r>
            <a:endParaRPr lang="zh-TW" altLang="en-US" dirty="0"/>
          </a:p>
        </p:txBody>
      </p:sp>
      <p:sp>
        <p:nvSpPr>
          <p:cNvPr id="3" name="內容版面配置區 2">
            <a:extLst>
              <a:ext uri="{FF2B5EF4-FFF2-40B4-BE49-F238E27FC236}">
                <a16:creationId xmlns:a16="http://schemas.microsoft.com/office/drawing/2014/main" id="{5BD59E58-34FC-4A4A-8515-061D06FDF773}"/>
              </a:ext>
            </a:extLst>
          </p:cNvPr>
          <p:cNvSpPr>
            <a:spLocks noGrp="1"/>
          </p:cNvSpPr>
          <p:nvPr>
            <p:ph idx="1"/>
          </p:nvPr>
        </p:nvSpPr>
        <p:spPr/>
        <p:txBody>
          <a:bodyPr>
            <a:normAutofit lnSpcReduction="10000"/>
          </a:bodyPr>
          <a:lstStyle/>
          <a:p>
            <a:r>
              <a:rPr lang="en-US" altLang="zh-TW" dirty="0"/>
              <a:t>If you modify the component’s name or delete it outright </a:t>
            </a:r>
            <a:r>
              <a:rPr lang="en-US" altLang="zh-TW" b="1" dirty="0"/>
              <a:t>without the game engine’s supervision</a:t>
            </a:r>
            <a:r>
              <a:rPr lang="en-US" altLang="zh-TW" dirty="0"/>
              <a:t>, it might not be able to detect the changes and change the metadata accordingly, resulting in error messages that wouldn’t go away.</a:t>
            </a:r>
          </a:p>
          <a:p>
            <a:r>
              <a:rPr lang="en-US" altLang="zh-TW" b="1" dirty="0"/>
              <a:t>For maximum safety, when removing a component or changing its name, you should always do it through the editor.</a:t>
            </a:r>
            <a:endParaRPr lang="zh-TW" altLang="en-US" b="1" dirty="0"/>
          </a:p>
        </p:txBody>
      </p:sp>
    </p:spTree>
    <p:extLst>
      <p:ext uri="{BB962C8B-B14F-4D97-AF65-F5344CB8AC3E}">
        <p14:creationId xmlns:p14="http://schemas.microsoft.com/office/powerpoint/2010/main" val="168595285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D849B407-534E-427A-807D-CA3342D9DD05}"/>
              </a:ext>
            </a:extLst>
          </p:cNvPr>
          <p:cNvSpPr>
            <a:spLocks noGrp="1"/>
          </p:cNvSpPr>
          <p:nvPr>
            <p:ph type="title"/>
          </p:nvPr>
        </p:nvSpPr>
        <p:spPr/>
        <p:txBody>
          <a:bodyPr/>
          <a:lstStyle/>
          <a:p>
            <a:r>
              <a:rPr lang="en-US" altLang="zh-TW" dirty="0"/>
              <a:t>Merging</a:t>
            </a:r>
            <a:endParaRPr lang="zh-TW" altLang="en-US" dirty="0"/>
          </a:p>
        </p:txBody>
      </p:sp>
      <p:sp>
        <p:nvSpPr>
          <p:cNvPr id="5" name="文字版面配置區 4">
            <a:extLst>
              <a:ext uri="{FF2B5EF4-FFF2-40B4-BE49-F238E27FC236}">
                <a16:creationId xmlns:a16="http://schemas.microsoft.com/office/drawing/2014/main" id="{BA564CE4-16D7-4021-9D3C-1673F661366D}"/>
              </a:ext>
            </a:extLst>
          </p:cNvPr>
          <p:cNvSpPr>
            <a:spLocks noGrp="1"/>
          </p:cNvSpPr>
          <p:nvPr>
            <p:ph type="body" idx="1"/>
          </p:nvPr>
        </p:nvSpPr>
        <p:spPr/>
        <p:txBody>
          <a:bodyPr/>
          <a:lstStyle/>
          <a:p>
            <a:r>
              <a:rPr lang="en-US" altLang="zh-TW" dirty="0"/>
              <a:t>I merged your branch with mine and everything broke…</a:t>
            </a:r>
            <a:endParaRPr lang="zh-TW" altLang="en-US" dirty="0"/>
          </a:p>
        </p:txBody>
      </p:sp>
    </p:spTree>
    <p:extLst>
      <p:ext uri="{BB962C8B-B14F-4D97-AF65-F5344CB8AC3E}">
        <p14:creationId xmlns:p14="http://schemas.microsoft.com/office/powerpoint/2010/main" val="27731119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6E42DE-581B-4777-B3BB-5DB8B33A0BD1}"/>
              </a:ext>
            </a:extLst>
          </p:cNvPr>
          <p:cNvSpPr>
            <a:spLocks noGrp="1"/>
          </p:cNvSpPr>
          <p:nvPr>
            <p:ph type="title"/>
          </p:nvPr>
        </p:nvSpPr>
        <p:spPr/>
        <p:txBody>
          <a:bodyPr/>
          <a:lstStyle/>
          <a:p>
            <a:r>
              <a:rPr lang="en-US" altLang="zh-TW" dirty="0"/>
              <a:t>Merging</a:t>
            </a:r>
            <a:endParaRPr lang="zh-TW" altLang="en-US" dirty="0"/>
          </a:p>
        </p:txBody>
      </p:sp>
      <p:sp>
        <p:nvSpPr>
          <p:cNvPr id="3" name="內容版面配置區 2">
            <a:extLst>
              <a:ext uri="{FF2B5EF4-FFF2-40B4-BE49-F238E27FC236}">
                <a16:creationId xmlns:a16="http://schemas.microsoft.com/office/drawing/2014/main" id="{8024E4C0-4993-4C21-82CB-594A44B8679B}"/>
              </a:ext>
            </a:extLst>
          </p:cNvPr>
          <p:cNvSpPr>
            <a:spLocks noGrp="1"/>
          </p:cNvSpPr>
          <p:nvPr>
            <p:ph idx="1"/>
          </p:nvPr>
        </p:nvSpPr>
        <p:spPr/>
        <p:txBody>
          <a:bodyPr/>
          <a:lstStyle/>
          <a:p>
            <a:r>
              <a:rPr lang="en-US" altLang="zh-TW" dirty="0"/>
              <a:t>In game development, merging branches can be very problematic, precisely because of the metadata changed through the editor.</a:t>
            </a:r>
          </a:p>
          <a:p>
            <a:r>
              <a:rPr lang="en-US" altLang="zh-TW" dirty="0"/>
              <a:t>Without proper planning, solving merge conflicts can waste </a:t>
            </a:r>
            <a:r>
              <a:rPr lang="en-US" altLang="zh-TW" b="1" dirty="0"/>
              <a:t>hours</a:t>
            </a:r>
            <a:r>
              <a:rPr lang="en-US" altLang="zh-TW" dirty="0"/>
              <a:t> of your precious time and introduce unwanted </a:t>
            </a:r>
            <a:r>
              <a:rPr lang="en-US" altLang="zh-TW" b="1" dirty="0"/>
              <a:t>bugs</a:t>
            </a:r>
            <a:r>
              <a:rPr lang="en-US" altLang="zh-TW" dirty="0"/>
              <a:t>.</a:t>
            </a:r>
          </a:p>
        </p:txBody>
      </p:sp>
    </p:spTree>
    <p:extLst>
      <p:ext uri="{BB962C8B-B14F-4D97-AF65-F5344CB8AC3E}">
        <p14:creationId xmlns:p14="http://schemas.microsoft.com/office/powerpoint/2010/main" val="100109283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506705-2674-41AC-AC8E-13825F227515}"/>
              </a:ext>
            </a:extLst>
          </p:cNvPr>
          <p:cNvSpPr>
            <a:spLocks noGrp="1"/>
          </p:cNvSpPr>
          <p:nvPr>
            <p:ph type="title"/>
          </p:nvPr>
        </p:nvSpPr>
        <p:spPr/>
        <p:txBody>
          <a:bodyPr/>
          <a:lstStyle/>
          <a:p>
            <a:r>
              <a:rPr lang="en-US" altLang="zh-TW" dirty="0"/>
              <a:t>Naïve Merging</a:t>
            </a:r>
            <a:endParaRPr lang="zh-TW" altLang="en-US" dirty="0"/>
          </a:p>
        </p:txBody>
      </p:sp>
      <p:sp>
        <p:nvSpPr>
          <p:cNvPr id="3" name="內容版面配置區 2">
            <a:extLst>
              <a:ext uri="{FF2B5EF4-FFF2-40B4-BE49-F238E27FC236}">
                <a16:creationId xmlns:a16="http://schemas.microsoft.com/office/drawing/2014/main" id="{A4CFED5D-0450-420D-BFD9-A232F9E5EB8D}"/>
              </a:ext>
            </a:extLst>
          </p:cNvPr>
          <p:cNvSpPr>
            <a:spLocks noGrp="1"/>
          </p:cNvSpPr>
          <p:nvPr>
            <p:ph idx="1"/>
          </p:nvPr>
        </p:nvSpPr>
        <p:spPr/>
        <p:txBody>
          <a:bodyPr>
            <a:normAutofit fontScale="92500"/>
          </a:bodyPr>
          <a:lstStyle/>
          <a:p>
            <a:r>
              <a:rPr lang="en-US" altLang="zh-TW" dirty="0"/>
              <a:t>Suppose that Alice and Bob are editing the same scene at the same time. They agreed </a:t>
            </a:r>
            <a:r>
              <a:rPr lang="en-US" altLang="zh-TW" b="1" dirty="0"/>
              <a:t>not to change what was already in the scene</a:t>
            </a:r>
            <a:r>
              <a:rPr lang="en-US" altLang="zh-TW" dirty="0"/>
              <a:t>.</a:t>
            </a:r>
          </a:p>
          <a:p>
            <a:r>
              <a:rPr lang="en-US" altLang="zh-TW" dirty="0"/>
              <a:t>Alice added some UI components, while Bob added some sprites to the scene.</a:t>
            </a:r>
          </a:p>
          <a:p>
            <a:r>
              <a:rPr lang="en-US" altLang="zh-TW" dirty="0"/>
              <a:t>And then, Alice pulled from Bob’s branch directly, merging the changes.</a:t>
            </a:r>
          </a:p>
          <a:p>
            <a:r>
              <a:rPr lang="en-US" altLang="zh-TW" dirty="0"/>
              <a:t>Is this enough to avoid merge conflicts? </a:t>
            </a:r>
            <a:r>
              <a:rPr lang="en-US" altLang="zh-TW" b="1" dirty="0">
                <a:solidFill>
                  <a:srgbClr val="FF0000"/>
                </a:solidFill>
              </a:rPr>
              <a:t>No!</a:t>
            </a:r>
            <a:endParaRPr lang="en-US" altLang="zh-TW" dirty="0">
              <a:solidFill>
                <a:srgbClr val="FF0000"/>
              </a:solidFill>
            </a:endParaRPr>
          </a:p>
          <a:p>
            <a:endParaRPr lang="zh-TW" altLang="en-US" dirty="0"/>
          </a:p>
        </p:txBody>
      </p:sp>
    </p:spTree>
    <p:extLst>
      <p:ext uri="{BB962C8B-B14F-4D97-AF65-F5344CB8AC3E}">
        <p14:creationId xmlns:p14="http://schemas.microsoft.com/office/powerpoint/2010/main" val="207341361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7F7668-7582-410E-BAEF-FE3BF38D8B50}"/>
              </a:ext>
            </a:extLst>
          </p:cNvPr>
          <p:cNvSpPr>
            <a:spLocks noGrp="1"/>
          </p:cNvSpPr>
          <p:nvPr>
            <p:ph type="title"/>
          </p:nvPr>
        </p:nvSpPr>
        <p:spPr/>
        <p:txBody>
          <a:bodyPr/>
          <a:lstStyle/>
          <a:p>
            <a:r>
              <a:rPr lang="en-US" altLang="zh-TW" dirty="0"/>
              <a:t>Naïve Merging</a:t>
            </a:r>
            <a:endParaRPr lang="zh-TW" altLang="en-US" dirty="0"/>
          </a:p>
        </p:txBody>
      </p:sp>
      <p:sp>
        <p:nvSpPr>
          <p:cNvPr id="3" name="內容版面配置區 2">
            <a:extLst>
              <a:ext uri="{FF2B5EF4-FFF2-40B4-BE49-F238E27FC236}">
                <a16:creationId xmlns:a16="http://schemas.microsoft.com/office/drawing/2014/main" id="{E3856D25-F928-446D-9E50-8229E43A07F5}"/>
              </a:ext>
            </a:extLst>
          </p:cNvPr>
          <p:cNvSpPr>
            <a:spLocks noGrp="1"/>
          </p:cNvSpPr>
          <p:nvPr>
            <p:ph idx="1"/>
          </p:nvPr>
        </p:nvSpPr>
        <p:spPr/>
        <p:txBody>
          <a:bodyPr>
            <a:normAutofit fontScale="92500" lnSpcReduction="20000"/>
          </a:bodyPr>
          <a:lstStyle/>
          <a:p>
            <a:r>
              <a:rPr lang="en-US" altLang="zh-TW" dirty="0"/>
              <a:t>Now, Alice must resolve the merge conflict.</a:t>
            </a:r>
          </a:p>
          <a:p>
            <a:r>
              <a:rPr lang="en-US" altLang="zh-TW" dirty="0"/>
              <a:t>She peeked at the scene’s metadata and found </a:t>
            </a:r>
            <a:r>
              <a:rPr lang="en-US" altLang="zh-TW" b="1" dirty="0"/>
              <a:t>hundreds of lines in conflict</a:t>
            </a:r>
            <a:r>
              <a:rPr lang="en-US" altLang="zh-TW" dirty="0"/>
              <a:t>.</a:t>
            </a:r>
          </a:p>
          <a:p>
            <a:r>
              <a:rPr lang="en-US" altLang="zh-TW" dirty="0"/>
              <a:t>She could edit it herself, manually reconstructing the merged version by rearranging the JSON objects.</a:t>
            </a:r>
          </a:p>
          <a:p>
            <a:r>
              <a:rPr lang="en-US" altLang="zh-TW" dirty="0"/>
              <a:t>But it’s </a:t>
            </a:r>
            <a:r>
              <a:rPr lang="en-US" altLang="zh-TW" b="1" dirty="0">
                <a:solidFill>
                  <a:srgbClr val="FF0000"/>
                </a:solidFill>
              </a:rPr>
              <a:t>error prone</a:t>
            </a:r>
            <a:r>
              <a:rPr lang="en-US" altLang="zh-TW" dirty="0">
                <a:solidFill>
                  <a:srgbClr val="FF0000"/>
                </a:solidFill>
              </a:rPr>
              <a:t> </a:t>
            </a:r>
            <a:r>
              <a:rPr lang="en-US" altLang="zh-TW" dirty="0"/>
              <a:t>and </a:t>
            </a:r>
            <a:r>
              <a:rPr lang="en-US" altLang="zh-TW" b="1" dirty="0">
                <a:solidFill>
                  <a:srgbClr val="FF0000"/>
                </a:solidFill>
              </a:rPr>
              <a:t>a waste of time</a:t>
            </a:r>
            <a:r>
              <a:rPr lang="en-US" altLang="zh-TW" b="1" dirty="0"/>
              <a:t>.</a:t>
            </a:r>
          </a:p>
          <a:p>
            <a:pPr lvl="1"/>
            <a:r>
              <a:rPr lang="en-US" altLang="zh-TW" dirty="0"/>
              <a:t>If one of them had rearranged the </a:t>
            </a:r>
            <a:r>
              <a:rPr lang="en-US" altLang="zh-TW"/>
              <a:t>scene’s node tree, </a:t>
            </a:r>
            <a:r>
              <a:rPr lang="en-US" altLang="zh-TW" dirty="0"/>
              <a:t>this would be even harder to do!</a:t>
            </a:r>
          </a:p>
          <a:p>
            <a:r>
              <a:rPr lang="en-US" altLang="zh-TW" dirty="0"/>
              <a:t>Can we do better?</a:t>
            </a:r>
            <a:endParaRPr lang="zh-TW" altLang="en-US" dirty="0"/>
          </a:p>
        </p:txBody>
      </p:sp>
    </p:spTree>
    <p:extLst>
      <p:ext uri="{BB962C8B-B14F-4D97-AF65-F5344CB8AC3E}">
        <p14:creationId xmlns:p14="http://schemas.microsoft.com/office/powerpoint/2010/main" val="322456136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E4DB8F-04A0-4B83-AD88-0D07D0AD76A2}"/>
              </a:ext>
            </a:extLst>
          </p:cNvPr>
          <p:cNvSpPr>
            <a:spLocks noGrp="1"/>
          </p:cNvSpPr>
          <p:nvPr>
            <p:ph type="title"/>
          </p:nvPr>
        </p:nvSpPr>
        <p:spPr/>
        <p:txBody>
          <a:bodyPr/>
          <a:lstStyle/>
          <a:p>
            <a:r>
              <a:rPr lang="en-US" altLang="zh-TW" dirty="0"/>
              <a:t>Better Merging</a:t>
            </a:r>
            <a:endParaRPr lang="zh-TW" altLang="en-US" dirty="0"/>
          </a:p>
        </p:txBody>
      </p:sp>
      <p:sp>
        <p:nvSpPr>
          <p:cNvPr id="3" name="內容版面配置區 2">
            <a:extLst>
              <a:ext uri="{FF2B5EF4-FFF2-40B4-BE49-F238E27FC236}">
                <a16:creationId xmlns:a16="http://schemas.microsoft.com/office/drawing/2014/main" id="{44A28143-67E6-4050-BEC3-1DCE108AECA5}"/>
              </a:ext>
            </a:extLst>
          </p:cNvPr>
          <p:cNvSpPr>
            <a:spLocks noGrp="1"/>
          </p:cNvSpPr>
          <p:nvPr>
            <p:ph idx="1"/>
          </p:nvPr>
        </p:nvSpPr>
        <p:spPr/>
        <p:txBody>
          <a:bodyPr>
            <a:normAutofit fontScale="92500"/>
          </a:bodyPr>
          <a:lstStyle/>
          <a:p>
            <a:r>
              <a:rPr lang="en-US" altLang="zh-TW" dirty="0"/>
              <a:t>This time, Alice and Bob agreed to implement their changes in </a:t>
            </a:r>
            <a:r>
              <a:rPr lang="en-US" altLang="zh-TW" b="1" dirty="0"/>
              <a:t>separate scenes</a:t>
            </a:r>
            <a:r>
              <a:rPr lang="en-US" altLang="zh-TW" dirty="0"/>
              <a:t>.</a:t>
            </a:r>
          </a:p>
          <a:p>
            <a:r>
              <a:rPr lang="en-US" altLang="zh-TW" dirty="0"/>
              <a:t>After they’re both finished, Alice pulled from Bob’s branch, and received Bob’s scene.</a:t>
            </a:r>
          </a:p>
          <a:p>
            <a:r>
              <a:rPr lang="en-US" altLang="zh-TW" dirty="0"/>
              <a:t>Following Bob’s instructions, Alice </a:t>
            </a:r>
            <a:r>
              <a:rPr lang="en-US" altLang="zh-TW" b="1" dirty="0"/>
              <a:t>copied the nodes in Bob’s scene and pasted them into her own scene</a:t>
            </a:r>
            <a:r>
              <a:rPr lang="en-US" altLang="zh-TW" dirty="0"/>
              <a:t>, completing the merge.</a:t>
            </a:r>
          </a:p>
          <a:p>
            <a:r>
              <a:rPr lang="en-US" altLang="zh-TW" b="1" dirty="0"/>
              <a:t>No metadata editing was needed.</a:t>
            </a:r>
            <a:endParaRPr lang="zh-TW" altLang="en-US" b="1" dirty="0"/>
          </a:p>
        </p:txBody>
      </p:sp>
    </p:spTree>
    <p:extLst>
      <p:ext uri="{BB962C8B-B14F-4D97-AF65-F5344CB8AC3E}">
        <p14:creationId xmlns:p14="http://schemas.microsoft.com/office/powerpoint/2010/main" val="214803134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1E2729-C27A-4AC5-96D1-8781B6D76CAE}"/>
              </a:ext>
            </a:extLst>
          </p:cNvPr>
          <p:cNvSpPr>
            <a:spLocks noGrp="1"/>
          </p:cNvSpPr>
          <p:nvPr>
            <p:ph type="title"/>
          </p:nvPr>
        </p:nvSpPr>
        <p:spPr/>
        <p:txBody>
          <a:bodyPr/>
          <a:lstStyle/>
          <a:p>
            <a:r>
              <a:rPr lang="en-US" altLang="zh-TW" dirty="0"/>
              <a:t>Better Merging</a:t>
            </a:r>
            <a:endParaRPr lang="zh-TW" altLang="en-US" dirty="0"/>
          </a:p>
        </p:txBody>
      </p:sp>
      <p:sp>
        <p:nvSpPr>
          <p:cNvPr id="3" name="內容版面配置區 2">
            <a:extLst>
              <a:ext uri="{FF2B5EF4-FFF2-40B4-BE49-F238E27FC236}">
                <a16:creationId xmlns:a16="http://schemas.microsoft.com/office/drawing/2014/main" id="{5C29533D-6D58-4186-A7DD-B396BE564297}"/>
              </a:ext>
            </a:extLst>
          </p:cNvPr>
          <p:cNvSpPr>
            <a:spLocks noGrp="1"/>
          </p:cNvSpPr>
          <p:nvPr>
            <p:ph idx="1"/>
          </p:nvPr>
        </p:nvSpPr>
        <p:spPr/>
        <p:txBody>
          <a:bodyPr/>
          <a:lstStyle/>
          <a:p>
            <a:r>
              <a:rPr lang="en-US" altLang="zh-TW" dirty="0"/>
              <a:t>Why does this work?</a:t>
            </a:r>
          </a:p>
          <a:p>
            <a:pPr lvl="1"/>
            <a:r>
              <a:rPr lang="en-US" altLang="zh-TW" dirty="0"/>
              <a:t>Alice and Bob’s scenes are </a:t>
            </a:r>
            <a:r>
              <a:rPr lang="en-US" altLang="zh-TW" b="1" dirty="0"/>
              <a:t>mutually exclusive</a:t>
            </a:r>
            <a:r>
              <a:rPr lang="en-US" altLang="zh-TW" dirty="0"/>
              <a:t>.</a:t>
            </a:r>
          </a:p>
          <a:p>
            <a:pPr lvl="1"/>
            <a:r>
              <a:rPr lang="en-US" altLang="zh-TW" dirty="0"/>
              <a:t>Merging the two scenes is done manually through the editor in a third scene, </a:t>
            </a:r>
            <a:r>
              <a:rPr lang="en-US" altLang="zh-TW" b="1" dirty="0"/>
              <a:t>which only one person will edit at a time</a:t>
            </a:r>
            <a:r>
              <a:rPr lang="en-US" altLang="zh-TW" dirty="0"/>
              <a:t>.</a:t>
            </a:r>
          </a:p>
          <a:p>
            <a:pPr lvl="1"/>
            <a:r>
              <a:rPr lang="en-US" altLang="zh-TW" dirty="0"/>
              <a:t>Therefore, no merge conflicts!</a:t>
            </a:r>
          </a:p>
        </p:txBody>
      </p:sp>
    </p:spTree>
    <p:extLst>
      <p:ext uri="{BB962C8B-B14F-4D97-AF65-F5344CB8AC3E}">
        <p14:creationId xmlns:p14="http://schemas.microsoft.com/office/powerpoint/2010/main" val="120613576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BEC8F3-9242-44D8-A25D-F62BB2D41680}"/>
              </a:ext>
            </a:extLst>
          </p:cNvPr>
          <p:cNvSpPr>
            <a:spLocks noGrp="1"/>
          </p:cNvSpPr>
          <p:nvPr>
            <p:ph type="title"/>
          </p:nvPr>
        </p:nvSpPr>
        <p:spPr/>
        <p:txBody>
          <a:bodyPr/>
          <a:lstStyle/>
          <a:p>
            <a:r>
              <a:rPr lang="en-US" altLang="zh-TW" dirty="0"/>
              <a:t>Even Better Merging</a:t>
            </a:r>
            <a:endParaRPr lang="zh-TW" altLang="en-US" dirty="0"/>
          </a:p>
        </p:txBody>
      </p:sp>
      <p:sp>
        <p:nvSpPr>
          <p:cNvPr id="3" name="內容版面配置區 2">
            <a:extLst>
              <a:ext uri="{FF2B5EF4-FFF2-40B4-BE49-F238E27FC236}">
                <a16:creationId xmlns:a16="http://schemas.microsoft.com/office/drawing/2014/main" id="{F8FEA622-C16E-4D7D-BB29-DE873AB64ABE}"/>
              </a:ext>
            </a:extLst>
          </p:cNvPr>
          <p:cNvSpPr>
            <a:spLocks noGrp="1"/>
          </p:cNvSpPr>
          <p:nvPr>
            <p:ph idx="1"/>
          </p:nvPr>
        </p:nvSpPr>
        <p:spPr/>
        <p:txBody>
          <a:bodyPr>
            <a:normAutofit/>
          </a:bodyPr>
          <a:lstStyle/>
          <a:p>
            <a:r>
              <a:rPr lang="en-US" altLang="zh-TW" dirty="0"/>
              <a:t>With good planning, we can </a:t>
            </a:r>
            <a:r>
              <a:rPr lang="en-US" altLang="zh-TW" b="1" dirty="0"/>
              <a:t>eliminate the need for manual merging</a:t>
            </a:r>
            <a:r>
              <a:rPr lang="en-US" altLang="zh-TW" dirty="0"/>
              <a:t> altogether.</a:t>
            </a:r>
          </a:p>
          <a:p>
            <a:r>
              <a:rPr lang="en-US" altLang="zh-TW" dirty="0"/>
              <a:t>This time, Alice and Bob agreed to </a:t>
            </a:r>
            <a:r>
              <a:rPr lang="en-US" altLang="zh-TW" b="1" dirty="0"/>
              <a:t>put their changes under their corresponding prefabs</a:t>
            </a:r>
            <a:r>
              <a:rPr lang="en-US" altLang="zh-TW" dirty="0"/>
              <a:t>.</a:t>
            </a:r>
          </a:p>
          <a:p>
            <a:r>
              <a:rPr lang="en-US" altLang="zh-TW" dirty="0"/>
              <a:t>Alice put a script in the scene, which will </a:t>
            </a:r>
            <a:r>
              <a:rPr lang="en-US" altLang="zh-TW" b="1" dirty="0"/>
              <a:t>instantiate</a:t>
            </a:r>
            <a:r>
              <a:rPr lang="en-US" altLang="zh-TW" dirty="0"/>
              <a:t> their prefabs when the scene loads.</a:t>
            </a:r>
            <a:endParaRPr lang="zh-TW" altLang="en-US" dirty="0"/>
          </a:p>
        </p:txBody>
      </p:sp>
    </p:spTree>
    <p:extLst>
      <p:ext uri="{BB962C8B-B14F-4D97-AF65-F5344CB8AC3E}">
        <p14:creationId xmlns:p14="http://schemas.microsoft.com/office/powerpoint/2010/main" val="206614006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B1EE8A-5C09-42DE-8392-216D7F41AA07}"/>
              </a:ext>
            </a:extLst>
          </p:cNvPr>
          <p:cNvSpPr>
            <a:spLocks noGrp="1"/>
          </p:cNvSpPr>
          <p:nvPr>
            <p:ph type="title"/>
          </p:nvPr>
        </p:nvSpPr>
        <p:spPr/>
        <p:txBody>
          <a:bodyPr/>
          <a:lstStyle/>
          <a:p>
            <a:r>
              <a:rPr lang="en-US" altLang="zh-TW" dirty="0"/>
              <a:t>Even Better Merging</a:t>
            </a:r>
            <a:endParaRPr lang="zh-TW" altLang="en-US" dirty="0"/>
          </a:p>
        </p:txBody>
      </p:sp>
      <p:sp>
        <p:nvSpPr>
          <p:cNvPr id="4" name="TextBox 3">
            <a:extLst>
              <a:ext uri="{FF2B5EF4-FFF2-40B4-BE49-F238E27FC236}">
                <a16:creationId xmlns:a16="http://schemas.microsoft.com/office/drawing/2014/main" id="{A355D9C3-BB76-4AE7-92E4-CD46AA1F54E5}"/>
              </a:ext>
            </a:extLst>
          </p:cNvPr>
          <p:cNvSpPr txBox="1">
            <a:spLocks noGrp="1"/>
          </p:cNvSpPr>
          <p:nvPr>
            <p:ph idx="1"/>
          </p:nvPr>
        </p:nvSpPr>
        <p:spPr>
          <a:xfrm>
            <a:off x="457200" y="1600200"/>
            <a:ext cx="8229600" cy="3354765"/>
          </a:xfrm>
          <a:prstGeom prst="rect">
            <a:avLst/>
          </a:prstGeom>
          <a:solidFill>
            <a:srgbClr val="FAFAC8"/>
          </a:solidFill>
          <a:ln>
            <a:solidFill>
              <a:schemeClr val="tx1"/>
            </a:solidFill>
          </a:ln>
        </p:spPr>
        <p:txBody>
          <a:bodyPr wrap="square" rtlCol="0">
            <a:spAutoFit/>
          </a:bodyPr>
          <a:lstStyle/>
          <a:p>
            <a:pPr marL="0" indent="0">
              <a:buNone/>
            </a:pPr>
            <a:r>
              <a:rPr lang="en-US" sz="2000" dirty="0"/>
              <a:t>const {</a:t>
            </a:r>
            <a:r>
              <a:rPr lang="en-US" sz="2000" dirty="0" err="1"/>
              <a:t>ccclass</a:t>
            </a:r>
            <a:r>
              <a:rPr lang="en-US" sz="2000" dirty="0"/>
              <a:t>, property} = </a:t>
            </a:r>
            <a:r>
              <a:rPr lang="en-US" sz="2000" dirty="0" err="1"/>
              <a:t>cc._decorator</a:t>
            </a:r>
            <a:r>
              <a:rPr lang="en-US" sz="2000" dirty="0"/>
              <a:t>;</a:t>
            </a:r>
          </a:p>
          <a:p>
            <a:pPr marL="0" indent="0">
              <a:buNone/>
            </a:pPr>
            <a:endParaRPr lang="en-US" sz="2000" dirty="0"/>
          </a:p>
          <a:p>
            <a:pPr marL="0" indent="0">
              <a:buNone/>
            </a:pPr>
            <a:r>
              <a:rPr lang="en-US" sz="2000" dirty="0"/>
              <a:t>@cclass </a:t>
            </a:r>
            <a:r>
              <a:rPr lang="en-US" sz="2000" dirty="0">
                <a:solidFill>
                  <a:srgbClr val="00B050"/>
                </a:solidFill>
              </a:rPr>
              <a:t>// Place this component on a node in the scene.</a:t>
            </a:r>
          </a:p>
          <a:p>
            <a:pPr marL="0" indent="0">
              <a:buNone/>
            </a:pPr>
            <a:r>
              <a:rPr lang="en-US" sz="2000" dirty="0"/>
              <a:t>export default class </a:t>
            </a:r>
            <a:r>
              <a:rPr lang="en-US" sz="2000" b="1" dirty="0"/>
              <a:t>MainSceneManager</a:t>
            </a:r>
            <a:r>
              <a:rPr lang="en-US" sz="2000" dirty="0"/>
              <a:t>{</a:t>
            </a:r>
          </a:p>
          <a:p>
            <a:pPr marL="0" indent="0">
              <a:buNone/>
            </a:pPr>
            <a:r>
              <a:rPr lang="en-US" sz="2000" dirty="0"/>
              <a:t>  @property(cc.Prefab)</a:t>
            </a:r>
          </a:p>
          <a:p>
            <a:pPr marL="0" indent="0">
              <a:buNone/>
            </a:pPr>
            <a:r>
              <a:rPr lang="en-US" sz="2000" dirty="0"/>
              <a:t>  UIPrefab: cc.Prefab = null; </a:t>
            </a:r>
            <a:r>
              <a:rPr lang="en-US" sz="2000" dirty="0">
                <a:solidFill>
                  <a:srgbClr val="00B050"/>
                </a:solidFill>
              </a:rPr>
              <a:t>// Assign by drag-and-drop.</a:t>
            </a:r>
          </a:p>
          <a:p>
            <a:pPr marL="0" indent="0">
              <a:buNone/>
            </a:pPr>
            <a:r>
              <a:rPr lang="en-US" sz="2000" dirty="0"/>
              <a:t>  @property(cc.Prefab)</a:t>
            </a:r>
          </a:p>
          <a:p>
            <a:pPr marL="0" indent="0">
              <a:buNone/>
            </a:pPr>
            <a:r>
              <a:rPr lang="en-US" sz="2000" dirty="0"/>
              <a:t>  actorsPrefab: cc.Prefab = null</a:t>
            </a:r>
            <a:r>
              <a:rPr lang="en-US" sz="2000" dirty="0">
                <a:solidFill>
                  <a:srgbClr val="00B050"/>
                </a:solidFill>
              </a:rPr>
              <a:t>; // Assign by drag-and-drop.</a:t>
            </a:r>
          </a:p>
          <a:p>
            <a:pPr marL="0" indent="0">
              <a:buNone/>
            </a:pPr>
            <a:r>
              <a:rPr lang="en-US" sz="2000" dirty="0"/>
              <a:t>  </a:t>
            </a:r>
            <a:r>
              <a:rPr lang="en-US" sz="2000" dirty="0">
                <a:solidFill>
                  <a:srgbClr val="00B050"/>
                </a:solidFill>
              </a:rPr>
              <a:t>// …</a:t>
            </a:r>
          </a:p>
        </p:txBody>
      </p:sp>
    </p:spTree>
    <p:extLst>
      <p:ext uri="{BB962C8B-B14F-4D97-AF65-F5344CB8AC3E}">
        <p14:creationId xmlns:p14="http://schemas.microsoft.com/office/powerpoint/2010/main" val="328556033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B1EE8A-5C09-42DE-8392-216D7F41AA07}"/>
              </a:ext>
            </a:extLst>
          </p:cNvPr>
          <p:cNvSpPr>
            <a:spLocks noGrp="1"/>
          </p:cNvSpPr>
          <p:nvPr>
            <p:ph type="title"/>
          </p:nvPr>
        </p:nvSpPr>
        <p:spPr/>
        <p:txBody>
          <a:bodyPr/>
          <a:lstStyle/>
          <a:p>
            <a:r>
              <a:rPr lang="en-US" altLang="zh-TW" dirty="0"/>
              <a:t>Even Better Merging</a:t>
            </a:r>
            <a:endParaRPr lang="zh-TW" altLang="en-US" dirty="0"/>
          </a:p>
        </p:txBody>
      </p:sp>
      <p:sp>
        <p:nvSpPr>
          <p:cNvPr id="4" name="TextBox 3">
            <a:extLst>
              <a:ext uri="{FF2B5EF4-FFF2-40B4-BE49-F238E27FC236}">
                <a16:creationId xmlns:a16="http://schemas.microsoft.com/office/drawing/2014/main" id="{A355D9C3-BB76-4AE7-92E4-CD46AA1F54E5}"/>
              </a:ext>
            </a:extLst>
          </p:cNvPr>
          <p:cNvSpPr txBox="1">
            <a:spLocks noGrp="1"/>
          </p:cNvSpPr>
          <p:nvPr>
            <p:ph idx="1"/>
          </p:nvPr>
        </p:nvSpPr>
        <p:spPr>
          <a:xfrm>
            <a:off x="457200" y="1600200"/>
            <a:ext cx="8229600" cy="3354765"/>
          </a:xfrm>
          <a:prstGeom prst="rect">
            <a:avLst/>
          </a:prstGeom>
          <a:solidFill>
            <a:srgbClr val="FAFAC8"/>
          </a:solidFill>
          <a:ln>
            <a:solidFill>
              <a:schemeClr val="tx1"/>
            </a:solidFill>
          </a:ln>
        </p:spPr>
        <p:txBody>
          <a:bodyPr wrap="square" rtlCol="0">
            <a:spAutoFit/>
          </a:bodyPr>
          <a:lstStyle/>
          <a:p>
            <a:pPr marL="0" indent="0">
              <a:buNone/>
            </a:pPr>
            <a:r>
              <a:rPr lang="en-US" altLang="zh-TW" sz="2000" dirty="0"/>
              <a:t>  onLoad(){ </a:t>
            </a:r>
            <a:r>
              <a:rPr lang="en-US" altLang="zh-TW" sz="2000" dirty="0">
                <a:solidFill>
                  <a:srgbClr val="00B050"/>
                </a:solidFill>
              </a:rPr>
              <a:t>// Construct the full scene.</a:t>
            </a:r>
          </a:p>
          <a:p>
            <a:pPr marL="0" indent="0">
              <a:buNone/>
            </a:pPr>
            <a:r>
              <a:rPr lang="en-US" altLang="zh-TW" sz="2000" dirty="0">
                <a:solidFill>
                  <a:srgbClr val="00B050"/>
                </a:solidFill>
              </a:rPr>
              <a:t>    </a:t>
            </a:r>
            <a:r>
              <a:rPr lang="en-US" altLang="zh-TW" sz="2000" dirty="0"/>
              <a:t>let UI = cc.instantiate(this.UIPrefab);</a:t>
            </a:r>
          </a:p>
          <a:p>
            <a:pPr marL="0" indent="0">
              <a:buNone/>
            </a:pPr>
            <a:r>
              <a:rPr lang="en-US" altLang="zh-TW" sz="2000" dirty="0"/>
              <a:t>    let actors = cc.instantiate(this.actorsPrefab);</a:t>
            </a:r>
          </a:p>
          <a:p>
            <a:pPr marL="0" indent="0">
              <a:buNone/>
            </a:pPr>
            <a:r>
              <a:rPr lang="en-US" altLang="zh-TW" sz="2000" dirty="0"/>
              <a:t>    UI.parent = cc.Canvas.instance.node;</a:t>
            </a:r>
          </a:p>
          <a:p>
            <a:pPr marL="0" indent="0">
              <a:buNone/>
            </a:pPr>
            <a:r>
              <a:rPr lang="en-US" altLang="zh-TW" sz="2000" dirty="0"/>
              <a:t>    actors.parent = </a:t>
            </a:r>
            <a:r>
              <a:rPr lang="en-US" altLang="zh-TW" sz="2000" dirty="0" err="1"/>
              <a:t>cc.Canvas.instance.node</a:t>
            </a:r>
            <a:r>
              <a:rPr lang="en-US" altLang="zh-TW" sz="2000" dirty="0"/>
              <a:t>;</a:t>
            </a:r>
          </a:p>
          <a:p>
            <a:pPr marL="0" indent="0">
              <a:buNone/>
            </a:pPr>
            <a:r>
              <a:rPr lang="en-US" altLang="zh-TW" sz="2000" dirty="0"/>
              <a:t>    </a:t>
            </a:r>
            <a:r>
              <a:rPr lang="en-US" altLang="zh-TW" sz="2000" dirty="0">
                <a:solidFill>
                  <a:srgbClr val="00B050"/>
                </a:solidFill>
              </a:rPr>
              <a:t>// </a:t>
            </a:r>
            <a:r>
              <a:rPr lang="en-US" altLang="zh-TW" sz="2000" dirty="0" err="1">
                <a:solidFill>
                  <a:srgbClr val="00B050"/>
                </a:solidFill>
              </a:rPr>
              <a:t>PlayerController</a:t>
            </a:r>
            <a:r>
              <a:rPr lang="en-US" altLang="zh-TW" sz="2000" dirty="0">
                <a:solidFill>
                  <a:srgbClr val="00B050"/>
                </a:solidFill>
              </a:rPr>
              <a:t> can now use </a:t>
            </a:r>
            <a:r>
              <a:rPr lang="en-US" altLang="zh-TW" sz="2000" dirty="0" err="1">
                <a:solidFill>
                  <a:srgbClr val="00B050"/>
                </a:solidFill>
              </a:rPr>
              <a:t>cc.Canvas.instance.node.find</a:t>
            </a:r>
            <a:r>
              <a:rPr lang="en-US" altLang="zh-TW" sz="2000" dirty="0">
                <a:solidFill>
                  <a:srgbClr val="00B050"/>
                </a:solidFill>
              </a:rPr>
              <a:t>(“UI”)</a:t>
            </a:r>
          </a:p>
          <a:p>
            <a:pPr marL="0" indent="0">
              <a:buNone/>
            </a:pPr>
            <a:r>
              <a:rPr lang="en-US" altLang="zh-TW" sz="2000" dirty="0">
                <a:solidFill>
                  <a:srgbClr val="00B050"/>
                </a:solidFill>
              </a:rPr>
              <a:t>    // to get the node that has </a:t>
            </a:r>
            <a:r>
              <a:rPr lang="en-US" altLang="zh-TW" sz="2000" dirty="0" err="1">
                <a:solidFill>
                  <a:srgbClr val="00B050"/>
                </a:solidFill>
              </a:rPr>
              <a:t>UIManager</a:t>
            </a:r>
            <a:r>
              <a:rPr lang="en-US" altLang="zh-TW" sz="2000" dirty="0">
                <a:solidFill>
                  <a:srgbClr val="00B050"/>
                </a:solidFill>
              </a:rPr>
              <a:t> attached.</a:t>
            </a:r>
          </a:p>
          <a:p>
            <a:pPr marL="0" indent="0">
              <a:buNone/>
            </a:pPr>
            <a:r>
              <a:rPr lang="en-US" altLang="zh-TW" sz="2000" dirty="0"/>
              <a:t>  }</a:t>
            </a:r>
          </a:p>
          <a:p>
            <a:pPr marL="0" indent="0">
              <a:buNone/>
            </a:pPr>
            <a:r>
              <a:rPr lang="en-US" sz="2000" dirty="0"/>
              <a:t>}</a:t>
            </a:r>
          </a:p>
        </p:txBody>
      </p:sp>
    </p:spTree>
    <p:extLst>
      <p:ext uri="{BB962C8B-B14F-4D97-AF65-F5344CB8AC3E}">
        <p14:creationId xmlns:p14="http://schemas.microsoft.com/office/powerpoint/2010/main" val="395021837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244920-A69C-4A38-AAF9-495681136E93}"/>
              </a:ext>
            </a:extLst>
          </p:cNvPr>
          <p:cNvSpPr>
            <a:spLocks noGrp="1"/>
          </p:cNvSpPr>
          <p:nvPr>
            <p:ph type="title"/>
          </p:nvPr>
        </p:nvSpPr>
        <p:spPr/>
        <p:txBody>
          <a:bodyPr/>
          <a:lstStyle/>
          <a:p>
            <a:r>
              <a:rPr lang="en-US" altLang="zh-TW" dirty="0"/>
              <a:t>Even Better Merging</a:t>
            </a:r>
            <a:endParaRPr lang="zh-TW" altLang="en-US" dirty="0"/>
          </a:p>
        </p:txBody>
      </p:sp>
      <p:sp>
        <p:nvSpPr>
          <p:cNvPr id="3" name="內容版面配置區 2">
            <a:extLst>
              <a:ext uri="{FF2B5EF4-FFF2-40B4-BE49-F238E27FC236}">
                <a16:creationId xmlns:a16="http://schemas.microsoft.com/office/drawing/2014/main" id="{70A787E9-0CD5-47F9-8CBE-CD234151E9A7}"/>
              </a:ext>
            </a:extLst>
          </p:cNvPr>
          <p:cNvSpPr>
            <a:spLocks noGrp="1"/>
          </p:cNvSpPr>
          <p:nvPr>
            <p:ph idx="1"/>
          </p:nvPr>
        </p:nvSpPr>
        <p:spPr/>
        <p:txBody>
          <a:bodyPr>
            <a:normAutofit/>
          </a:bodyPr>
          <a:lstStyle/>
          <a:p>
            <a:r>
              <a:rPr lang="en-US" altLang="zh-TW" dirty="0"/>
              <a:t>With this method, there is no need to edit the scene anymore. </a:t>
            </a:r>
            <a:r>
              <a:rPr lang="en-US" altLang="zh-TW" b="1" dirty="0"/>
              <a:t>Merging can happen without generating any conflict.</a:t>
            </a:r>
            <a:endParaRPr lang="en-US" altLang="zh-TW" dirty="0"/>
          </a:p>
          <a:p>
            <a:r>
              <a:rPr lang="en-US" altLang="zh-TW" dirty="0"/>
              <a:t>The only downside is that they cannot preview how the final scene looks. They have to enter play mode to see the combined results.</a:t>
            </a:r>
          </a:p>
        </p:txBody>
      </p:sp>
    </p:spTree>
    <p:extLst>
      <p:ext uri="{BB962C8B-B14F-4D97-AF65-F5344CB8AC3E}">
        <p14:creationId xmlns:p14="http://schemas.microsoft.com/office/powerpoint/2010/main" val="412309208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C9DC17-F076-4CE9-AA68-C3D195BAA181}"/>
              </a:ext>
            </a:extLst>
          </p:cNvPr>
          <p:cNvSpPr>
            <a:spLocks noGrp="1"/>
          </p:cNvSpPr>
          <p:nvPr>
            <p:ph type="title"/>
          </p:nvPr>
        </p:nvSpPr>
        <p:spPr/>
        <p:txBody>
          <a:bodyPr/>
          <a:lstStyle/>
          <a:p>
            <a:r>
              <a:rPr lang="en-US" altLang="zh-TW" dirty="0"/>
              <a:t>Even Better Merging</a:t>
            </a:r>
            <a:endParaRPr lang="zh-TW" altLang="en-US" dirty="0"/>
          </a:p>
        </p:txBody>
      </p:sp>
      <p:sp>
        <p:nvSpPr>
          <p:cNvPr id="3" name="內容版面配置區 2">
            <a:extLst>
              <a:ext uri="{FF2B5EF4-FFF2-40B4-BE49-F238E27FC236}">
                <a16:creationId xmlns:a16="http://schemas.microsoft.com/office/drawing/2014/main" id="{E8AE2DA1-CB10-43D7-A97D-3F85F53DD65D}"/>
              </a:ext>
            </a:extLst>
          </p:cNvPr>
          <p:cNvSpPr>
            <a:spLocks noGrp="1"/>
          </p:cNvSpPr>
          <p:nvPr>
            <p:ph idx="1"/>
          </p:nvPr>
        </p:nvSpPr>
        <p:spPr/>
        <p:txBody>
          <a:bodyPr/>
          <a:lstStyle/>
          <a:p>
            <a:r>
              <a:rPr lang="en-US" altLang="zh-TW" dirty="0"/>
              <a:t>Is not being able to see the final scene in the editor that big of an issue?</a:t>
            </a:r>
          </a:p>
          <a:p>
            <a:pPr lvl="1"/>
            <a:r>
              <a:rPr lang="en-US" altLang="zh-TW" dirty="0"/>
              <a:t>The editor is most useful for adjusting </a:t>
            </a:r>
            <a:r>
              <a:rPr lang="en-US" altLang="zh-TW" b="1" dirty="0"/>
              <a:t>visual</a:t>
            </a:r>
            <a:r>
              <a:rPr lang="en-US" altLang="zh-TW" b="1" i="1" dirty="0"/>
              <a:t> </a:t>
            </a:r>
            <a:r>
              <a:rPr lang="en-US" altLang="zh-TW" dirty="0"/>
              <a:t>parameters, like position, scale, rotation, etc.</a:t>
            </a:r>
          </a:p>
          <a:p>
            <a:pPr lvl="1"/>
            <a:r>
              <a:rPr lang="en-US" altLang="zh-TW" dirty="0"/>
              <a:t>These parameters can be edited </a:t>
            </a:r>
            <a:r>
              <a:rPr lang="en-US" altLang="zh-TW" b="1" dirty="0"/>
              <a:t>inside the prefabs</a:t>
            </a:r>
            <a:r>
              <a:rPr lang="en-US" altLang="zh-TW" dirty="0"/>
              <a:t>, rather than in the scene view.</a:t>
            </a:r>
          </a:p>
        </p:txBody>
      </p:sp>
    </p:spTree>
    <p:extLst>
      <p:ext uri="{BB962C8B-B14F-4D97-AF65-F5344CB8AC3E}">
        <p14:creationId xmlns:p14="http://schemas.microsoft.com/office/powerpoint/2010/main" val="299960841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8CEB26-DCDF-4145-A0A9-9D4481AE02D7}"/>
              </a:ext>
            </a:extLst>
          </p:cNvPr>
          <p:cNvSpPr>
            <a:spLocks noGrp="1"/>
          </p:cNvSpPr>
          <p:nvPr>
            <p:ph type="title"/>
          </p:nvPr>
        </p:nvSpPr>
        <p:spPr/>
        <p:txBody>
          <a:bodyPr/>
          <a:lstStyle/>
          <a:p>
            <a:r>
              <a:rPr lang="en-US" altLang="zh-TW" dirty="0"/>
              <a:t>Dependencies</a:t>
            </a:r>
            <a:endParaRPr lang="zh-TW" altLang="en-US" dirty="0"/>
          </a:p>
        </p:txBody>
      </p:sp>
      <p:sp>
        <p:nvSpPr>
          <p:cNvPr id="3" name="內容版面配置區 2">
            <a:extLst>
              <a:ext uri="{FF2B5EF4-FFF2-40B4-BE49-F238E27FC236}">
                <a16:creationId xmlns:a16="http://schemas.microsoft.com/office/drawing/2014/main" id="{B641B923-1246-4A4F-A2D9-B3975BCEF49C}"/>
              </a:ext>
            </a:extLst>
          </p:cNvPr>
          <p:cNvSpPr>
            <a:spLocks noGrp="1"/>
          </p:cNvSpPr>
          <p:nvPr>
            <p:ph idx="1"/>
          </p:nvPr>
        </p:nvSpPr>
        <p:spPr/>
        <p:txBody>
          <a:bodyPr>
            <a:normAutofit fontScale="92500"/>
          </a:bodyPr>
          <a:lstStyle/>
          <a:p>
            <a:r>
              <a:rPr lang="en-US" altLang="zh-TW" dirty="0"/>
              <a:t>It is important to note that the task of merging Bob’s scene into Alice’s scene is trivial because they have no </a:t>
            </a:r>
            <a:r>
              <a:rPr lang="en-US" altLang="zh-TW" b="1" dirty="0"/>
              <a:t>mutual dependency</a:t>
            </a:r>
            <a:r>
              <a:rPr lang="en-US" altLang="zh-TW" dirty="0"/>
              <a:t> yet. Bob does not need anything from Alice’s scene, and vice versa.</a:t>
            </a:r>
          </a:p>
          <a:p>
            <a:r>
              <a:rPr lang="en-US" altLang="zh-TW" dirty="0"/>
              <a:t>Furthermore, they both don’t need anything from the original scene.</a:t>
            </a:r>
          </a:p>
          <a:p>
            <a:r>
              <a:rPr lang="en-US" altLang="zh-TW" dirty="0"/>
              <a:t>In software engineering, a dependency means that one object </a:t>
            </a:r>
            <a:r>
              <a:rPr lang="en-US" altLang="zh-TW" b="1" dirty="0"/>
              <a:t>references</a:t>
            </a:r>
            <a:r>
              <a:rPr lang="en-US" altLang="zh-TW" dirty="0"/>
              <a:t> another.</a:t>
            </a:r>
          </a:p>
        </p:txBody>
      </p:sp>
    </p:spTree>
    <p:extLst>
      <p:ext uri="{BB962C8B-B14F-4D97-AF65-F5344CB8AC3E}">
        <p14:creationId xmlns:p14="http://schemas.microsoft.com/office/powerpoint/2010/main" val="41207887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D5D73A-1BE3-4144-9D83-A1545E94C7FD}"/>
              </a:ext>
            </a:extLst>
          </p:cNvPr>
          <p:cNvSpPr>
            <a:spLocks noGrp="1"/>
          </p:cNvSpPr>
          <p:nvPr>
            <p:ph type="title"/>
          </p:nvPr>
        </p:nvSpPr>
        <p:spPr/>
        <p:txBody>
          <a:bodyPr/>
          <a:lstStyle/>
          <a:p>
            <a:r>
              <a:rPr lang="en-US" altLang="zh-TW" dirty="0"/>
              <a:t>Dependencies</a:t>
            </a:r>
            <a:endParaRPr lang="zh-TW" altLang="en-US" dirty="0"/>
          </a:p>
        </p:txBody>
      </p:sp>
      <p:sp>
        <p:nvSpPr>
          <p:cNvPr id="3" name="內容版面配置區 2">
            <a:extLst>
              <a:ext uri="{FF2B5EF4-FFF2-40B4-BE49-F238E27FC236}">
                <a16:creationId xmlns:a16="http://schemas.microsoft.com/office/drawing/2014/main" id="{C04DC842-8712-475F-8A16-2294047C7783}"/>
              </a:ext>
            </a:extLst>
          </p:cNvPr>
          <p:cNvSpPr>
            <a:spLocks noGrp="1"/>
          </p:cNvSpPr>
          <p:nvPr>
            <p:ph idx="1"/>
          </p:nvPr>
        </p:nvSpPr>
        <p:spPr/>
        <p:txBody>
          <a:bodyPr>
            <a:normAutofit lnSpcReduction="10000"/>
          </a:bodyPr>
          <a:lstStyle/>
          <a:p>
            <a:r>
              <a:rPr lang="en-US" altLang="zh-TW" dirty="0"/>
              <a:t>Identifying dependencies when planning your project can help you break a project into smaller chunks of work </a:t>
            </a:r>
            <a:r>
              <a:rPr lang="en-US" altLang="zh-TW" b="1" dirty="0"/>
              <a:t>which can be worked on separately</a:t>
            </a:r>
            <a:r>
              <a:rPr lang="en-US" altLang="zh-TW" dirty="0"/>
              <a:t>.</a:t>
            </a:r>
          </a:p>
          <a:p>
            <a:r>
              <a:rPr lang="en-US" altLang="zh-TW" dirty="0"/>
              <a:t>However, most objects have at least a few dependencies.</a:t>
            </a:r>
          </a:p>
          <a:p>
            <a:r>
              <a:rPr lang="en-US" altLang="zh-TW" dirty="0"/>
              <a:t>In the case of Alice and Bob, Bob might need to reference Alice’s UI scripts, telling them the player’s current HP and lives.</a:t>
            </a:r>
          </a:p>
        </p:txBody>
      </p:sp>
    </p:spTree>
    <p:extLst>
      <p:ext uri="{BB962C8B-B14F-4D97-AF65-F5344CB8AC3E}">
        <p14:creationId xmlns:p14="http://schemas.microsoft.com/office/powerpoint/2010/main" val="63994998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B25041-A7E4-4AF8-A651-02134F515DC4}"/>
              </a:ext>
            </a:extLst>
          </p:cNvPr>
          <p:cNvSpPr>
            <a:spLocks noGrp="1"/>
          </p:cNvSpPr>
          <p:nvPr>
            <p:ph type="title"/>
          </p:nvPr>
        </p:nvSpPr>
        <p:spPr/>
        <p:txBody>
          <a:bodyPr/>
          <a:lstStyle/>
          <a:p>
            <a:r>
              <a:rPr lang="en-US" altLang="zh-TW" dirty="0"/>
              <a:t>Dependencies</a:t>
            </a:r>
            <a:endParaRPr lang="zh-TW" altLang="en-US" dirty="0"/>
          </a:p>
        </p:txBody>
      </p:sp>
      <p:sp>
        <p:nvSpPr>
          <p:cNvPr id="3" name="內容版面配置區 2">
            <a:extLst>
              <a:ext uri="{FF2B5EF4-FFF2-40B4-BE49-F238E27FC236}">
                <a16:creationId xmlns:a16="http://schemas.microsoft.com/office/drawing/2014/main" id="{86C30D84-6F82-4FD7-8BBE-301B790A781B}"/>
              </a:ext>
            </a:extLst>
          </p:cNvPr>
          <p:cNvSpPr>
            <a:spLocks noGrp="1"/>
          </p:cNvSpPr>
          <p:nvPr>
            <p:ph idx="1"/>
          </p:nvPr>
        </p:nvSpPr>
        <p:spPr>
          <a:xfrm>
            <a:off x="457200" y="1600200"/>
            <a:ext cx="8229600" cy="553649"/>
          </a:xfrm>
        </p:spPr>
        <p:txBody>
          <a:bodyPr>
            <a:normAutofit lnSpcReduction="10000"/>
          </a:bodyPr>
          <a:lstStyle/>
          <a:p>
            <a:r>
              <a:rPr lang="en-US" altLang="zh-TW" dirty="0"/>
              <a:t>The scene hierarchy would look like this:</a:t>
            </a:r>
            <a:endParaRPr lang="zh-TW" altLang="en-US" dirty="0"/>
          </a:p>
        </p:txBody>
      </p:sp>
      <p:sp>
        <p:nvSpPr>
          <p:cNvPr id="8" name="內容版面配置區 2">
            <a:extLst>
              <a:ext uri="{FF2B5EF4-FFF2-40B4-BE49-F238E27FC236}">
                <a16:creationId xmlns:a16="http://schemas.microsoft.com/office/drawing/2014/main" id="{3A69BFE4-7945-4E5C-8414-48EB023461A3}"/>
              </a:ext>
            </a:extLst>
          </p:cNvPr>
          <p:cNvSpPr txBox="1">
            <a:spLocks/>
          </p:cNvSpPr>
          <p:nvPr/>
        </p:nvSpPr>
        <p:spPr>
          <a:xfrm>
            <a:off x="457200" y="6129792"/>
            <a:ext cx="8229600" cy="553649"/>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US" altLang="zh-TW" dirty="0">
                <a:solidFill>
                  <a:srgbClr val="FF0000"/>
                </a:solidFill>
              </a:rPr>
              <a:t>Bob needs to enter Alice’s workspace!</a:t>
            </a:r>
            <a:endParaRPr lang="zh-TW" altLang="en-US" dirty="0">
              <a:solidFill>
                <a:srgbClr val="FF0000"/>
              </a:solidFill>
            </a:endParaRPr>
          </a:p>
        </p:txBody>
      </p:sp>
      <p:pic>
        <p:nvPicPr>
          <p:cNvPr id="5" name="圖片 4">
            <a:extLst>
              <a:ext uri="{FF2B5EF4-FFF2-40B4-BE49-F238E27FC236}">
                <a16:creationId xmlns:a16="http://schemas.microsoft.com/office/drawing/2014/main" id="{1EA8EE5B-4C5C-4B2D-BBBC-962FA054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6317" y="2114797"/>
            <a:ext cx="5811366" cy="4014995"/>
          </a:xfrm>
          <a:prstGeom prst="rect">
            <a:avLst/>
          </a:prstGeom>
        </p:spPr>
      </p:pic>
    </p:spTree>
    <p:extLst>
      <p:ext uri="{BB962C8B-B14F-4D97-AF65-F5344CB8AC3E}">
        <p14:creationId xmlns:p14="http://schemas.microsoft.com/office/powerpoint/2010/main" val="407724762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D097CE-50FC-41F8-9B10-4E4A3B3C39F5}"/>
              </a:ext>
            </a:extLst>
          </p:cNvPr>
          <p:cNvSpPr>
            <a:spLocks noGrp="1"/>
          </p:cNvSpPr>
          <p:nvPr>
            <p:ph type="title"/>
          </p:nvPr>
        </p:nvSpPr>
        <p:spPr/>
        <p:txBody>
          <a:bodyPr/>
          <a:lstStyle/>
          <a:p>
            <a:r>
              <a:rPr lang="en-US" altLang="zh-TW" dirty="0"/>
              <a:t>Dependencies</a:t>
            </a:r>
            <a:endParaRPr lang="zh-TW" altLang="en-US" dirty="0"/>
          </a:p>
        </p:txBody>
      </p:sp>
      <p:sp>
        <p:nvSpPr>
          <p:cNvPr id="3" name="內容版面配置區 2">
            <a:extLst>
              <a:ext uri="{FF2B5EF4-FFF2-40B4-BE49-F238E27FC236}">
                <a16:creationId xmlns:a16="http://schemas.microsoft.com/office/drawing/2014/main" id="{8FFBCE72-F283-4D52-B1B9-9FF04969FCFC}"/>
              </a:ext>
            </a:extLst>
          </p:cNvPr>
          <p:cNvSpPr>
            <a:spLocks noGrp="1"/>
          </p:cNvSpPr>
          <p:nvPr>
            <p:ph idx="1"/>
          </p:nvPr>
        </p:nvSpPr>
        <p:spPr/>
        <p:txBody>
          <a:bodyPr>
            <a:normAutofit fontScale="92500"/>
          </a:bodyPr>
          <a:lstStyle/>
          <a:p>
            <a:r>
              <a:rPr lang="en-US" altLang="zh-TW" dirty="0"/>
              <a:t>It seems that Bob needs to assign the reference to Alice’s UI using their nodes’ paths. (with </a:t>
            </a:r>
            <a:r>
              <a:rPr lang="en-US" altLang="zh-TW" dirty="0">
                <a:highlight>
                  <a:srgbClr val="C0C0C0"/>
                </a:highlight>
                <a:latin typeface="Consolas" panose="020B0609020204030204" pitchFamily="49" charset="0"/>
              </a:rPr>
              <a:t>cc.find</a:t>
            </a:r>
            <a:r>
              <a:rPr lang="en-US" altLang="zh-TW" dirty="0"/>
              <a:t>)</a:t>
            </a:r>
          </a:p>
          <a:p>
            <a:r>
              <a:rPr lang="en-US" altLang="zh-TW" dirty="0"/>
              <a:t>This would </a:t>
            </a:r>
            <a:r>
              <a:rPr lang="en-US" altLang="zh-TW" b="1" dirty="0"/>
              <a:t>violate encapsulation</a:t>
            </a:r>
            <a:r>
              <a:rPr lang="en-US" altLang="zh-TW" dirty="0"/>
              <a:t> between the two modules –</a:t>
            </a:r>
            <a:r>
              <a:rPr lang="zh-TW" altLang="en-US" dirty="0"/>
              <a:t> </a:t>
            </a:r>
            <a:r>
              <a:rPr lang="en-US" altLang="zh-TW" b="1" dirty="0"/>
              <a:t>Bob needs to know about the structure of Alice’s prefab.</a:t>
            </a:r>
            <a:endParaRPr lang="en-US" altLang="zh-TW" dirty="0"/>
          </a:p>
          <a:p>
            <a:pPr lvl="1"/>
            <a:r>
              <a:rPr lang="en-US" altLang="zh-TW" dirty="0"/>
              <a:t>If Alice renamed any node on the path or changed her prefab’s node tree, Bob’s scripts would suddenly start failing to find the references.</a:t>
            </a:r>
          </a:p>
        </p:txBody>
      </p:sp>
    </p:spTree>
    <p:extLst>
      <p:ext uri="{BB962C8B-B14F-4D97-AF65-F5344CB8AC3E}">
        <p14:creationId xmlns:p14="http://schemas.microsoft.com/office/powerpoint/2010/main" val="147665078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7ECD0C-E2BC-4426-B384-8ECCAE0EF952}"/>
              </a:ext>
            </a:extLst>
          </p:cNvPr>
          <p:cNvSpPr>
            <a:spLocks noGrp="1"/>
          </p:cNvSpPr>
          <p:nvPr>
            <p:ph type="title"/>
          </p:nvPr>
        </p:nvSpPr>
        <p:spPr/>
        <p:txBody>
          <a:bodyPr/>
          <a:lstStyle/>
          <a:p>
            <a:r>
              <a:rPr lang="en-US" altLang="zh-TW" dirty="0"/>
              <a:t>Abstraction</a:t>
            </a:r>
            <a:endParaRPr lang="zh-TW" altLang="en-US" dirty="0"/>
          </a:p>
        </p:txBody>
      </p:sp>
      <p:sp>
        <p:nvSpPr>
          <p:cNvPr id="3" name="內容版面配置區 2">
            <a:extLst>
              <a:ext uri="{FF2B5EF4-FFF2-40B4-BE49-F238E27FC236}">
                <a16:creationId xmlns:a16="http://schemas.microsoft.com/office/drawing/2014/main" id="{BED14D78-8A03-4B0D-A56C-FBE54269B19E}"/>
              </a:ext>
            </a:extLst>
          </p:cNvPr>
          <p:cNvSpPr>
            <a:spLocks noGrp="1"/>
          </p:cNvSpPr>
          <p:nvPr>
            <p:ph idx="1"/>
          </p:nvPr>
        </p:nvSpPr>
        <p:spPr/>
        <p:txBody>
          <a:bodyPr/>
          <a:lstStyle/>
          <a:p>
            <a:r>
              <a:rPr lang="en-US" altLang="zh-TW" dirty="0"/>
              <a:t>That Bob needs to inspect Alice’s prefab indicates that there isn’t enough </a:t>
            </a:r>
            <a:r>
              <a:rPr lang="en-US" altLang="zh-TW" b="1" dirty="0"/>
              <a:t>abstraction</a:t>
            </a:r>
            <a:r>
              <a:rPr lang="en-US" altLang="zh-TW" dirty="0"/>
              <a:t> between the two prefabs.</a:t>
            </a:r>
          </a:p>
          <a:p>
            <a:r>
              <a:rPr lang="en-US" altLang="zh-TW" dirty="0"/>
              <a:t>An </a:t>
            </a:r>
            <a:r>
              <a:rPr lang="en-US" altLang="zh-TW" b="1" dirty="0"/>
              <a:t>abstraction layer </a:t>
            </a:r>
            <a:r>
              <a:rPr lang="en-US" altLang="zh-TW" dirty="0"/>
              <a:t>can hide implementation details with </a:t>
            </a:r>
            <a:r>
              <a:rPr lang="en-US" altLang="zh-TW" b="1" dirty="0"/>
              <a:t>indirection</a:t>
            </a:r>
            <a:r>
              <a:rPr lang="en-US" altLang="zh-TW" dirty="0"/>
              <a:t>, becoming a “middleman” across multiple objects.</a:t>
            </a:r>
            <a:endParaRPr lang="zh-TW" altLang="en-US" dirty="0"/>
          </a:p>
        </p:txBody>
      </p:sp>
    </p:spTree>
    <p:extLst>
      <p:ext uri="{BB962C8B-B14F-4D97-AF65-F5344CB8AC3E}">
        <p14:creationId xmlns:p14="http://schemas.microsoft.com/office/powerpoint/2010/main" val="372175784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46373D-87EF-441E-9447-AE529DE90131}"/>
              </a:ext>
            </a:extLst>
          </p:cNvPr>
          <p:cNvSpPr>
            <a:spLocks noGrp="1"/>
          </p:cNvSpPr>
          <p:nvPr>
            <p:ph type="title"/>
          </p:nvPr>
        </p:nvSpPr>
        <p:spPr/>
        <p:txBody>
          <a:bodyPr/>
          <a:lstStyle/>
          <a:p>
            <a:r>
              <a:rPr lang="en-US" altLang="zh-TW" dirty="0"/>
              <a:t>Abstraction</a:t>
            </a:r>
            <a:endParaRPr lang="zh-TW" altLang="en-US" dirty="0"/>
          </a:p>
        </p:txBody>
      </p:sp>
      <p:sp>
        <p:nvSpPr>
          <p:cNvPr id="3" name="內容版面配置區 2">
            <a:extLst>
              <a:ext uri="{FF2B5EF4-FFF2-40B4-BE49-F238E27FC236}">
                <a16:creationId xmlns:a16="http://schemas.microsoft.com/office/drawing/2014/main" id="{916A748C-26E2-424C-A32F-B16EC8585820}"/>
              </a:ext>
            </a:extLst>
          </p:cNvPr>
          <p:cNvSpPr>
            <a:spLocks noGrp="1"/>
          </p:cNvSpPr>
          <p:nvPr>
            <p:ph idx="1"/>
          </p:nvPr>
        </p:nvSpPr>
        <p:spPr/>
        <p:txBody>
          <a:bodyPr>
            <a:normAutofit lnSpcReduction="10000"/>
          </a:bodyPr>
          <a:lstStyle/>
          <a:p>
            <a:r>
              <a:rPr lang="en-US" altLang="zh-TW" dirty="0"/>
              <a:t>To maintain encapsulation, Alice could collect all references Bob might be interested in into one component, preferably placed in the prefab’s root.</a:t>
            </a:r>
          </a:p>
          <a:p>
            <a:r>
              <a:rPr lang="en-US" altLang="zh-TW" dirty="0"/>
              <a:t>Bob could then retrieve the references from that component, rather than exploring Alice’s prefab’s node tree.</a:t>
            </a:r>
          </a:p>
          <a:p>
            <a:r>
              <a:rPr lang="en-US" altLang="zh-TW" dirty="0"/>
              <a:t>We say that the component </a:t>
            </a:r>
            <a:r>
              <a:rPr lang="en-US" altLang="zh-TW" b="1" dirty="0"/>
              <a:t>abstracts the exact locations of the references.</a:t>
            </a:r>
          </a:p>
        </p:txBody>
      </p:sp>
    </p:spTree>
    <p:extLst>
      <p:ext uri="{BB962C8B-B14F-4D97-AF65-F5344CB8AC3E}">
        <p14:creationId xmlns:p14="http://schemas.microsoft.com/office/powerpoint/2010/main" val="301849514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9994C3-2435-4318-AC70-60C8EC2F59A3}"/>
              </a:ext>
            </a:extLst>
          </p:cNvPr>
          <p:cNvSpPr>
            <a:spLocks noGrp="1"/>
          </p:cNvSpPr>
          <p:nvPr>
            <p:ph type="title"/>
          </p:nvPr>
        </p:nvSpPr>
        <p:spPr>
          <a:xfrm>
            <a:off x="457200" y="274638"/>
            <a:ext cx="8229600" cy="1143000"/>
          </a:xfrm>
        </p:spPr>
        <p:txBody>
          <a:bodyPr anchor="ctr">
            <a:normAutofit/>
          </a:bodyPr>
          <a:lstStyle/>
          <a:p>
            <a:r>
              <a:rPr lang="en-US" altLang="zh-TW" dirty="0"/>
              <a:t>Abstraction</a:t>
            </a:r>
            <a:endParaRPr lang="zh-TW" altLang="en-US" dirty="0"/>
          </a:p>
        </p:txBody>
      </p:sp>
      <p:pic>
        <p:nvPicPr>
          <p:cNvPr id="4" name="圖片 3">
            <a:extLst>
              <a:ext uri="{FF2B5EF4-FFF2-40B4-BE49-F238E27FC236}">
                <a16:creationId xmlns:a16="http://schemas.microsoft.com/office/drawing/2014/main" id="{799A3276-030B-4488-B6A9-36E175E43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7582" y="1600200"/>
            <a:ext cx="6488836" cy="4525963"/>
          </a:xfrm>
          <a:prstGeom prst="rect">
            <a:avLst/>
          </a:prstGeom>
          <a:noFill/>
        </p:spPr>
      </p:pic>
    </p:spTree>
    <p:extLst>
      <p:ext uri="{BB962C8B-B14F-4D97-AF65-F5344CB8AC3E}">
        <p14:creationId xmlns:p14="http://schemas.microsoft.com/office/powerpoint/2010/main" val="40392123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807993-0492-42C5-92C0-4997F95D0CF0}"/>
              </a:ext>
            </a:extLst>
          </p:cNvPr>
          <p:cNvSpPr>
            <a:spLocks noGrp="1"/>
          </p:cNvSpPr>
          <p:nvPr>
            <p:ph type="title"/>
          </p:nvPr>
        </p:nvSpPr>
        <p:spPr/>
        <p:txBody>
          <a:bodyPr/>
          <a:lstStyle/>
          <a:p>
            <a:r>
              <a:rPr lang="en-US" altLang="zh-TW" dirty="0"/>
              <a:t>Abstraction</a:t>
            </a:r>
            <a:endParaRPr lang="zh-TW" altLang="en-US" dirty="0"/>
          </a:p>
        </p:txBody>
      </p:sp>
      <p:sp>
        <p:nvSpPr>
          <p:cNvPr id="3" name="內容版面配置區 2">
            <a:extLst>
              <a:ext uri="{FF2B5EF4-FFF2-40B4-BE49-F238E27FC236}">
                <a16:creationId xmlns:a16="http://schemas.microsoft.com/office/drawing/2014/main" id="{16BFA2CA-6E10-433D-8DB9-D0B85668325E}"/>
              </a:ext>
            </a:extLst>
          </p:cNvPr>
          <p:cNvSpPr>
            <a:spLocks noGrp="1"/>
          </p:cNvSpPr>
          <p:nvPr>
            <p:ph idx="1"/>
          </p:nvPr>
        </p:nvSpPr>
        <p:spPr/>
        <p:txBody>
          <a:bodyPr>
            <a:normAutofit fontScale="92500" lnSpcReduction="10000"/>
          </a:bodyPr>
          <a:lstStyle/>
          <a:p>
            <a:r>
              <a:rPr lang="en-US" altLang="zh-TW" dirty="0"/>
              <a:t>Now Alice just needs to maintain the </a:t>
            </a:r>
            <a:r>
              <a:rPr lang="en-US" altLang="zh-TW" dirty="0">
                <a:solidFill>
                  <a:srgbClr val="00B050"/>
                </a:solidFill>
              </a:rPr>
              <a:t>UIManager</a:t>
            </a:r>
            <a:r>
              <a:rPr lang="en-US" altLang="zh-TW" dirty="0"/>
              <a:t>’s references on her own, and Bob does not need to know about the exact locations of the Score and Health Texts.</a:t>
            </a:r>
          </a:p>
          <a:p>
            <a:r>
              <a:rPr lang="en-US" altLang="zh-TW" dirty="0"/>
              <a:t>However, Bob still needs to reference </a:t>
            </a:r>
            <a:r>
              <a:rPr lang="en-US" altLang="zh-TW" dirty="0">
                <a:solidFill>
                  <a:srgbClr val="00B050"/>
                </a:solidFill>
              </a:rPr>
              <a:t>UIManager</a:t>
            </a:r>
            <a:r>
              <a:rPr lang="en-US" altLang="zh-TW" dirty="0"/>
              <a:t> by the instance of Alice’s prefab in the scene. (Again, with </a:t>
            </a:r>
            <a:r>
              <a:rPr lang="en-US" altLang="zh-TW" dirty="0">
                <a:highlight>
                  <a:srgbClr val="C0C0C0"/>
                </a:highlight>
                <a:latin typeface="Consolas" panose="020B0609020204030204" pitchFamily="49" charset="0"/>
              </a:rPr>
              <a:t>cc.find</a:t>
            </a:r>
            <a:r>
              <a:rPr lang="en-US" altLang="zh-TW" dirty="0"/>
              <a:t>)</a:t>
            </a:r>
          </a:p>
          <a:p>
            <a:r>
              <a:rPr lang="en-US" altLang="zh-TW" dirty="0"/>
              <a:t>With </a:t>
            </a:r>
            <a:r>
              <a:rPr lang="en-US" altLang="zh-TW" b="1" dirty="0"/>
              <a:t>one more layer of abstraction</a:t>
            </a:r>
            <a:r>
              <a:rPr lang="en-US" altLang="zh-TW" dirty="0"/>
              <a:t>, Bob can </a:t>
            </a:r>
            <a:r>
              <a:rPr lang="en-US" altLang="zh-TW" b="1" dirty="0"/>
              <a:t>avoid checking the scene’s node tree </a:t>
            </a:r>
            <a:r>
              <a:rPr lang="en-US" altLang="zh-TW" dirty="0"/>
              <a:t>altogether!</a:t>
            </a:r>
          </a:p>
        </p:txBody>
      </p:sp>
    </p:spTree>
    <p:extLst>
      <p:ext uri="{BB962C8B-B14F-4D97-AF65-F5344CB8AC3E}">
        <p14:creationId xmlns:p14="http://schemas.microsoft.com/office/powerpoint/2010/main" val="2420321219"/>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9994C3-2435-4318-AC70-60C8EC2F59A3}"/>
              </a:ext>
            </a:extLst>
          </p:cNvPr>
          <p:cNvSpPr>
            <a:spLocks noGrp="1"/>
          </p:cNvSpPr>
          <p:nvPr>
            <p:ph type="title"/>
          </p:nvPr>
        </p:nvSpPr>
        <p:spPr>
          <a:xfrm>
            <a:off x="457200" y="274638"/>
            <a:ext cx="8229600" cy="1143000"/>
          </a:xfrm>
        </p:spPr>
        <p:txBody>
          <a:bodyPr anchor="ctr">
            <a:normAutofit/>
          </a:bodyPr>
          <a:lstStyle/>
          <a:p>
            <a:r>
              <a:rPr lang="en-US" altLang="zh-TW" dirty="0"/>
              <a:t>Abstraction</a:t>
            </a:r>
            <a:endParaRPr lang="zh-TW" altLang="en-US" dirty="0"/>
          </a:p>
        </p:txBody>
      </p:sp>
      <p:pic>
        <p:nvPicPr>
          <p:cNvPr id="11" name="內容版面配置區 10">
            <a:extLst>
              <a:ext uri="{FF2B5EF4-FFF2-40B4-BE49-F238E27FC236}">
                <a16:creationId xmlns:a16="http://schemas.microsoft.com/office/drawing/2014/main" id="{4E2E2E6F-B106-49EB-A830-C444C68649E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69021" y="1600200"/>
            <a:ext cx="6805958" cy="4525963"/>
          </a:xfrm>
          <a:noFill/>
        </p:spPr>
      </p:pic>
    </p:spTree>
    <p:extLst>
      <p:ext uri="{BB962C8B-B14F-4D97-AF65-F5344CB8AC3E}">
        <p14:creationId xmlns:p14="http://schemas.microsoft.com/office/powerpoint/2010/main" val="356388539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B1EE8A-5C09-42DE-8392-216D7F41AA07}"/>
              </a:ext>
            </a:extLst>
          </p:cNvPr>
          <p:cNvSpPr>
            <a:spLocks noGrp="1"/>
          </p:cNvSpPr>
          <p:nvPr>
            <p:ph type="title"/>
          </p:nvPr>
        </p:nvSpPr>
        <p:spPr/>
        <p:txBody>
          <a:bodyPr/>
          <a:lstStyle/>
          <a:p>
            <a:r>
              <a:rPr lang="en-US" altLang="zh-TW" dirty="0"/>
              <a:t>Abstraction</a:t>
            </a:r>
            <a:endParaRPr lang="zh-TW" altLang="en-US" dirty="0"/>
          </a:p>
        </p:txBody>
      </p:sp>
      <p:sp>
        <p:nvSpPr>
          <p:cNvPr id="4" name="TextBox 3">
            <a:extLst>
              <a:ext uri="{FF2B5EF4-FFF2-40B4-BE49-F238E27FC236}">
                <a16:creationId xmlns:a16="http://schemas.microsoft.com/office/drawing/2014/main" id="{A355D9C3-BB76-4AE7-92E4-CD46AA1F54E5}"/>
              </a:ext>
            </a:extLst>
          </p:cNvPr>
          <p:cNvSpPr txBox="1">
            <a:spLocks noGrp="1"/>
          </p:cNvSpPr>
          <p:nvPr>
            <p:ph idx="1"/>
          </p:nvPr>
        </p:nvSpPr>
        <p:spPr>
          <a:xfrm>
            <a:off x="457200" y="1600200"/>
            <a:ext cx="8229600" cy="4462760"/>
          </a:xfrm>
          <a:prstGeom prst="rect">
            <a:avLst/>
          </a:prstGeom>
          <a:solidFill>
            <a:srgbClr val="FAFAC8"/>
          </a:solidFill>
          <a:ln>
            <a:solidFill>
              <a:schemeClr val="tx1"/>
            </a:solidFill>
          </a:ln>
        </p:spPr>
        <p:txBody>
          <a:bodyPr wrap="square" rtlCol="0">
            <a:spAutoFit/>
          </a:bodyPr>
          <a:lstStyle/>
          <a:p>
            <a:pPr marL="0" indent="0">
              <a:buNone/>
            </a:pPr>
            <a:r>
              <a:rPr lang="en-US" altLang="zh-TW" sz="2000" dirty="0">
                <a:solidFill>
                  <a:srgbClr val="00B050"/>
                </a:solidFill>
              </a:rPr>
              <a:t>// In MainSceneManager:</a:t>
            </a:r>
          </a:p>
          <a:p>
            <a:pPr marL="0" indent="0">
              <a:buNone/>
            </a:pPr>
            <a:r>
              <a:rPr lang="en-US" altLang="zh-TW" sz="2000" dirty="0"/>
              <a:t>onLoad(){ </a:t>
            </a:r>
            <a:r>
              <a:rPr lang="en-US" altLang="zh-TW" sz="2000" dirty="0">
                <a:solidFill>
                  <a:srgbClr val="00B050"/>
                </a:solidFill>
              </a:rPr>
              <a:t>// Construct the full scene and resolve references on load.</a:t>
            </a:r>
            <a:endParaRPr lang="en-US" altLang="zh-TW" sz="2000" dirty="0"/>
          </a:p>
          <a:p>
            <a:pPr marL="0" indent="0">
              <a:buNone/>
            </a:pPr>
            <a:r>
              <a:rPr lang="en-US" altLang="zh-TW" sz="2000" dirty="0"/>
              <a:t>  let UI = cc.instantiate(this.UIPrefab);</a:t>
            </a:r>
          </a:p>
          <a:p>
            <a:pPr marL="0" indent="0">
              <a:buNone/>
            </a:pPr>
            <a:r>
              <a:rPr lang="en-US" altLang="zh-TW" sz="2000" dirty="0"/>
              <a:t>  let actors = cc.instantiate(this.actorsPrefab);</a:t>
            </a:r>
          </a:p>
          <a:p>
            <a:pPr marL="0" indent="0">
              <a:buNone/>
            </a:pPr>
            <a:r>
              <a:rPr lang="en-US" altLang="zh-TW" sz="2000" dirty="0"/>
              <a:t>  UI.parent = cc.Canvas.instance.node;</a:t>
            </a:r>
          </a:p>
          <a:p>
            <a:pPr marL="0" indent="0">
              <a:buNone/>
            </a:pPr>
            <a:r>
              <a:rPr lang="en-US" altLang="zh-TW" sz="2000" dirty="0"/>
              <a:t>  actors.parent = cc.Canvas.instance.node;</a:t>
            </a:r>
          </a:p>
          <a:p>
            <a:pPr marL="0" indent="0">
              <a:buNone/>
            </a:pPr>
            <a:r>
              <a:rPr lang="en-US" altLang="zh-TW" sz="2000" dirty="0"/>
              <a:t>  actors.getComponent(</a:t>
            </a:r>
            <a:r>
              <a:rPr lang="en-US" altLang="zh-TW" sz="2000" b="1" dirty="0" err="1"/>
              <a:t>ActorManager</a:t>
            </a:r>
            <a:r>
              <a:rPr lang="en-US" altLang="zh-TW" sz="2000" dirty="0"/>
              <a:t>).</a:t>
            </a:r>
            <a:r>
              <a:rPr lang="en-US" altLang="zh-TW" sz="2000" dirty="0" err="1"/>
              <a:t>injectDependencies</a:t>
            </a:r>
            <a:r>
              <a:rPr lang="en-US" altLang="zh-TW" sz="2000" dirty="0"/>
              <a:t>(</a:t>
            </a:r>
          </a:p>
          <a:p>
            <a:pPr marL="0" indent="0">
              <a:buNone/>
            </a:pPr>
            <a:r>
              <a:rPr lang="en-US" altLang="zh-TW" sz="2000" dirty="0"/>
              <a:t>    UI.getComponent(</a:t>
            </a:r>
            <a:r>
              <a:rPr lang="en-US" altLang="zh-TW" sz="2000" b="1" dirty="0"/>
              <a:t>UIManager</a:t>
            </a:r>
            <a:r>
              <a:rPr lang="en-US" altLang="zh-TW" sz="2000" dirty="0"/>
              <a:t>)</a:t>
            </a:r>
          </a:p>
          <a:p>
            <a:pPr marL="0" indent="0">
              <a:buNone/>
            </a:pPr>
            <a:r>
              <a:rPr lang="en-US" altLang="zh-TW" sz="2000" dirty="0"/>
              <a:t>  ); </a:t>
            </a:r>
            <a:r>
              <a:rPr lang="en-US" altLang="zh-TW" sz="2000" dirty="0">
                <a:solidFill>
                  <a:srgbClr val="00B050"/>
                </a:solidFill>
              </a:rPr>
              <a:t>// Give ActorManager the reference to </a:t>
            </a:r>
            <a:r>
              <a:rPr lang="en-US" altLang="zh-TW" sz="2000" dirty="0" err="1">
                <a:solidFill>
                  <a:srgbClr val="00B050"/>
                </a:solidFill>
              </a:rPr>
              <a:t>UIManager</a:t>
            </a:r>
            <a:endParaRPr lang="en-US" altLang="zh-TW" sz="2000" dirty="0">
              <a:solidFill>
                <a:srgbClr val="00B050"/>
              </a:solidFill>
            </a:endParaRPr>
          </a:p>
          <a:p>
            <a:pPr marL="0" indent="0">
              <a:buNone/>
            </a:pPr>
            <a:r>
              <a:rPr lang="en-US" altLang="zh-TW" sz="2000" dirty="0">
                <a:solidFill>
                  <a:srgbClr val="00B050"/>
                </a:solidFill>
              </a:rPr>
              <a:t>  // Now </a:t>
            </a:r>
            <a:r>
              <a:rPr lang="en-US" altLang="zh-TW" sz="2000" dirty="0" err="1">
                <a:solidFill>
                  <a:srgbClr val="00B050"/>
                </a:solidFill>
              </a:rPr>
              <a:t>PlayerController</a:t>
            </a:r>
            <a:r>
              <a:rPr lang="en-US" altLang="zh-TW" sz="2000" dirty="0">
                <a:solidFill>
                  <a:srgbClr val="00B050"/>
                </a:solidFill>
              </a:rPr>
              <a:t> can reference </a:t>
            </a:r>
            <a:r>
              <a:rPr lang="en-US" altLang="zh-TW" sz="2000" dirty="0" err="1">
                <a:solidFill>
                  <a:srgbClr val="00B050"/>
                </a:solidFill>
              </a:rPr>
              <a:t>UIManager</a:t>
            </a:r>
            <a:r>
              <a:rPr lang="en-US" altLang="zh-TW" sz="2000" dirty="0">
                <a:solidFill>
                  <a:srgbClr val="00B050"/>
                </a:solidFill>
              </a:rPr>
              <a:t> through </a:t>
            </a:r>
          </a:p>
          <a:p>
            <a:pPr marL="0" indent="0">
              <a:buNone/>
            </a:pPr>
            <a:r>
              <a:rPr lang="en-US" altLang="zh-TW" sz="2000" dirty="0">
                <a:solidFill>
                  <a:srgbClr val="00B050"/>
                </a:solidFill>
              </a:rPr>
              <a:t>  // </a:t>
            </a:r>
            <a:r>
              <a:rPr lang="en-US" altLang="zh-TW" sz="2000" dirty="0" err="1">
                <a:solidFill>
                  <a:srgbClr val="00B050"/>
                </a:solidFill>
              </a:rPr>
              <a:t>ActorManager</a:t>
            </a:r>
            <a:r>
              <a:rPr lang="en-US" altLang="zh-TW" sz="2000" dirty="0">
                <a:solidFill>
                  <a:srgbClr val="00B050"/>
                </a:solidFill>
              </a:rPr>
              <a:t>, all inside the Actors prefab.</a:t>
            </a:r>
          </a:p>
          <a:p>
            <a:pPr marL="0" indent="0">
              <a:buNone/>
            </a:pPr>
            <a:r>
              <a:rPr lang="en-US" altLang="zh-TW" sz="2000" dirty="0"/>
              <a:t>}</a:t>
            </a:r>
          </a:p>
        </p:txBody>
      </p:sp>
    </p:spTree>
    <p:extLst>
      <p:ext uri="{BB962C8B-B14F-4D97-AF65-F5344CB8AC3E}">
        <p14:creationId xmlns:p14="http://schemas.microsoft.com/office/powerpoint/2010/main" val="243802113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ABAB7A-9707-4185-B65B-37834427D32F}"/>
              </a:ext>
            </a:extLst>
          </p:cNvPr>
          <p:cNvSpPr>
            <a:spLocks noGrp="1"/>
          </p:cNvSpPr>
          <p:nvPr>
            <p:ph type="title"/>
          </p:nvPr>
        </p:nvSpPr>
        <p:spPr/>
        <p:txBody>
          <a:bodyPr/>
          <a:lstStyle/>
          <a:p>
            <a:r>
              <a:rPr lang="en-US" altLang="zh-TW" dirty="0"/>
              <a:t>Abstraction</a:t>
            </a:r>
            <a:endParaRPr lang="zh-TW" altLang="en-US" dirty="0"/>
          </a:p>
        </p:txBody>
      </p:sp>
      <p:sp>
        <p:nvSpPr>
          <p:cNvPr id="3" name="內容版面配置區 2">
            <a:extLst>
              <a:ext uri="{FF2B5EF4-FFF2-40B4-BE49-F238E27FC236}">
                <a16:creationId xmlns:a16="http://schemas.microsoft.com/office/drawing/2014/main" id="{EF20CD43-EC72-48BB-8509-F69C97C421D4}"/>
              </a:ext>
            </a:extLst>
          </p:cNvPr>
          <p:cNvSpPr>
            <a:spLocks noGrp="1"/>
          </p:cNvSpPr>
          <p:nvPr>
            <p:ph idx="1"/>
          </p:nvPr>
        </p:nvSpPr>
        <p:spPr/>
        <p:txBody>
          <a:bodyPr>
            <a:normAutofit fontScale="92500"/>
          </a:bodyPr>
          <a:lstStyle/>
          <a:p>
            <a:r>
              <a:rPr lang="en-US" altLang="zh-TW" dirty="0"/>
              <a:t>With this model, Alice and Bob could connect </a:t>
            </a:r>
            <a:r>
              <a:rPr lang="en-US" altLang="zh-TW" dirty="0">
                <a:solidFill>
                  <a:srgbClr val="00B050"/>
                </a:solidFill>
              </a:rPr>
              <a:t>ActorManager</a:t>
            </a:r>
            <a:r>
              <a:rPr lang="en-US" altLang="zh-TW" dirty="0"/>
              <a:t> and </a:t>
            </a:r>
            <a:r>
              <a:rPr lang="en-US" altLang="zh-TW" dirty="0">
                <a:solidFill>
                  <a:srgbClr val="00B050"/>
                </a:solidFill>
              </a:rPr>
              <a:t>UIManager</a:t>
            </a:r>
            <a:r>
              <a:rPr lang="en-US" altLang="zh-TW" dirty="0"/>
              <a:t> right when their prefabs are instantiated.</a:t>
            </a:r>
          </a:p>
          <a:p>
            <a:r>
              <a:rPr lang="en-US" altLang="zh-TW" dirty="0"/>
              <a:t>Even if the actual objects they’re referencing don’t exist yet, </a:t>
            </a:r>
            <a:r>
              <a:rPr lang="en-US" altLang="zh-TW" b="1" dirty="0"/>
              <a:t>these intermediate references can be connected beforehand!</a:t>
            </a:r>
          </a:p>
          <a:p>
            <a:r>
              <a:rPr lang="en-US" altLang="zh-TW" dirty="0"/>
              <a:t>This could even be the job of </a:t>
            </a:r>
            <a:r>
              <a:rPr lang="en-US" altLang="zh-TW" b="1" dirty="0"/>
              <a:t>a third person</a:t>
            </a:r>
            <a:r>
              <a:rPr lang="en-US" altLang="zh-TW" dirty="0"/>
              <a:t>, who doesn’t need to know the exact structure of the two prefabs’ hierarchies.</a:t>
            </a:r>
            <a:endParaRPr lang="zh-TW" altLang="en-US" dirty="0"/>
          </a:p>
        </p:txBody>
      </p:sp>
    </p:spTree>
    <p:extLst>
      <p:ext uri="{BB962C8B-B14F-4D97-AF65-F5344CB8AC3E}">
        <p14:creationId xmlns:p14="http://schemas.microsoft.com/office/powerpoint/2010/main" val="176786659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9D3F72-5AA0-44C0-B46F-74B70738FBB0}"/>
              </a:ext>
            </a:extLst>
          </p:cNvPr>
          <p:cNvSpPr>
            <a:spLocks noGrp="1"/>
          </p:cNvSpPr>
          <p:nvPr>
            <p:ph type="title"/>
          </p:nvPr>
        </p:nvSpPr>
        <p:spPr/>
        <p:txBody>
          <a:bodyPr/>
          <a:lstStyle/>
          <a:p>
            <a:r>
              <a:rPr lang="en-US" altLang="zh-TW" dirty="0"/>
              <a:t>Abstraction</a:t>
            </a:r>
            <a:endParaRPr lang="zh-TW" altLang="en-US" dirty="0"/>
          </a:p>
        </p:txBody>
      </p:sp>
      <p:sp>
        <p:nvSpPr>
          <p:cNvPr id="3" name="內容版面配置區 2">
            <a:extLst>
              <a:ext uri="{FF2B5EF4-FFF2-40B4-BE49-F238E27FC236}">
                <a16:creationId xmlns:a16="http://schemas.microsoft.com/office/drawing/2014/main" id="{168DB179-9985-4D83-B9B1-5613F37D86CC}"/>
              </a:ext>
            </a:extLst>
          </p:cNvPr>
          <p:cNvSpPr>
            <a:spLocks noGrp="1"/>
          </p:cNvSpPr>
          <p:nvPr>
            <p:ph idx="1"/>
          </p:nvPr>
        </p:nvSpPr>
        <p:spPr/>
        <p:txBody>
          <a:bodyPr>
            <a:normAutofit/>
          </a:bodyPr>
          <a:lstStyle/>
          <a:p>
            <a:r>
              <a:rPr lang="en-US" altLang="zh-TW" dirty="0"/>
              <a:t>It is true that with abstraction layers in the way, PlayerController needs </a:t>
            </a:r>
            <a:r>
              <a:rPr lang="en-US" altLang="zh-TW" b="1" dirty="0"/>
              <a:t>up to three references</a:t>
            </a:r>
            <a:r>
              <a:rPr lang="en-US" altLang="zh-TW" dirty="0"/>
              <a:t> to access the </a:t>
            </a:r>
            <a:r>
              <a:rPr lang="en-US" altLang="zh-TW" dirty="0" err="1"/>
              <a:t>cc.Label</a:t>
            </a:r>
            <a:r>
              <a:rPr lang="en-US" altLang="zh-TW" dirty="0"/>
              <a:t> components (as opposed to just one without), possibly causing a performance penalty. </a:t>
            </a:r>
          </a:p>
          <a:p>
            <a:r>
              <a:rPr lang="en-US" altLang="zh-TW" dirty="0"/>
              <a:t>This can be mitigated by </a:t>
            </a:r>
            <a:r>
              <a:rPr lang="en-US" altLang="zh-TW" b="1" dirty="0"/>
              <a:t>caching the references</a:t>
            </a:r>
            <a:r>
              <a:rPr lang="en-US" altLang="zh-TW" dirty="0"/>
              <a:t> inside </a:t>
            </a:r>
            <a:r>
              <a:rPr lang="en-US" altLang="zh-TW" dirty="0" err="1"/>
              <a:t>PlayerController</a:t>
            </a:r>
            <a:r>
              <a:rPr lang="en-US" altLang="zh-TW" dirty="0"/>
              <a:t>.</a:t>
            </a:r>
          </a:p>
        </p:txBody>
      </p:sp>
    </p:spTree>
    <p:extLst>
      <p:ext uri="{BB962C8B-B14F-4D97-AF65-F5344CB8AC3E}">
        <p14:creationId xmlns:p14="http://schemas.microsoft.com/office/powerpoint/2010/main" val="358851784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4657EC-F78A-4F91-A53E-37DCDB5040DC}"/>
              </a:ext>
            </a:extLst>
          </p:cNvPr>
          <p:cNvSpPr>
            <a:spLocks noGrp="1"/>
          </p:cNvSpPr>
          <p:nvPr>
            <p:ph type="title"/>
          </p:nvPr>
        </p:nvSpPr>
        <p:spPr/>
        <p:txBody>
          <a:bodyPr/>
          <a:lstStyle/>
          <a:p>
            <a:r>
              <a:rPr lang="en-US" altLang="zh-TW" dirty="0"/>
              <a:t>Divide and Conquer</a:t>
            </a:r>
            <a:endParaRPr lang="zh-TW" altLang="en-US" dirty="0"/>
          </a:p>
        </p:txBody>
      </p:sp>
      <p:sp>
        <p:nvSpPr>
          <p:cNvPr id="3" name="內容版面配置區 2">
            <a:extLst>
              <a:ext uri="{FF2B5EF4-FFF2-40B4-BE49-F238E27FC236}">
                <a16:creationId xmlns:a16="http://schemas.microsoft.com/office/drawing/2014/main" id="{88A77606-4BD5-4B69-9BD5-A8F43B1A27BB}"/>
              </a:ext>
            </a:extLst>
          </p:cNvPr>
          <p:cNvSpPr>
            <a:spLocks noGrp="1"/>
          </p:cNvSpPr>
          <p:nvPr>
            <p:ph idx="1"/>
          </p:nvPr>
        </p:nvSpPr>
        <p:spPr/>
        <p:txBody>
          <a:bodyPr>
            <a:normAutofit/>
          </a:bodyPr>
          <a:lstStyle/>
          <a:p>
            <a:r>
              <a:rPr lang="en-US" altLang="zh-TW" dirty="0"/>
              <a:t>It is now apparent that organizing scenes in terms of prefabs can greatly </a:t>
            </a:r>
            <a:r>
              <a:rPr lang="en-US" altLang="zh-TW" b="1" dirty="0"/>
              <a:t>reduce the time spent on merging </a:t>
            </a:r>
            <a:r>
              <a:rPr lang="en-US" altLang="zh-TW" dirty="0"/>
              <a:t>and </a:t>
            </a:r>
            <a:r>
              <a:rPr lang="en-US" altLang="zh-TW" b="1" dirty="0"/>
              <a:t>accelerate development speed</a:t>
            </a:r>
            <a:r>
              <a:rPr lang="en-US" altLang="zh-TW" dirty="0"/>
              <a:t>.</a:t>
            </a:r>
          </a:p>
          <a:p>
            <a:r>
              <a:rPr lang="en-US" altLang="zh-TW" dirty="0"/>
              <a:t>We can take this approach to </a:t>
            </a:r>
            <a:r>
              <a:rPr lang="en-US" altLang="zh-TW" b="1" dirty="0"/>
              <a:t>break down prefabs into smaller prefabs as needed</a:t>
            </a:r>
            <a:r>
              <a:rPr lang="en-US" altLang="zh-TW" dirty="0"/>
              <a:t>, so that more people can work without waiting for each other.</a:t>
            </a:r>
          </a:p>
        </p:txBody>
      </p:sp>
    </p:spTree>
    <p:extLst>
      <p:ext uri="{BB962C8B-B14F-4D97-AF65-F5344CB8AC3E}">
        <p14:creationId xmlns:p14="http://schemas.microsoft.com/office/powerpoint/2010/main" val="263672683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302EA9B-4C09-4497-A425-8F891DAF688F}"/>
              </a:ext>
            </a:extLst>
          </p:cNvPr>
          <p:cNvSpPr>
            <a:spLocks noGrp="1"/>
          </p:cNvSpPr>
          <p:nvPr>
            <p:ph type="title"/>
          </p:nvPr>
        </p:nvSpPr>
        <p:spPr/>
        <p:txBody>
          <a:bodyPr/>
          <a:lstStyle/>
          <a:p>
            <a:r>
              <a:rPr lang="en-US" altLang="zh-TW" dirty="0"/>
              <a:t>ROLLBACK</a:t>
            </a:r>
            <a:endParaRPr lang="zh-TW" altLang="en-US" dirty="0"/>
          </a:p>
        </p:txBody>
      </p:sp>
      <p:sp>
        <p:nvSpPr>
          <p:cNvPr id="5" name="文字版面配置區 4">
            <a:extLst>
              <a:ext uri="{FF2B5EF4-FFF2-40B4-BE49-F238E27FC236}">
                <a16:creationId xmlns:a16="http://schemas.microsoft.com/office/drawing/2014/main" id="{B49DDA45-1DA2-4C00-BF16-124C8DBBFDCD}"/>
              </a:ext>
            </a:extLst>
          </p:cNvPr>
          <p:cNvSpPr>
            <a:spLocks noGrp="1"/>
          </p:cNvSpPr>
          <p:nvPr>
            <p:ph type="body" idx="1"/>
          </p:nvPr>
        </p:nvSpPr>
        <p:spPr/>
        <p:txBody>
          <a:bodyPr/>
          <a:lstStyle/>
          <a:p>
            <a:r>
              <a:rPr lang="en-US" altLang="zh-TW" dirty="0"/>
              <a:t>Solving the problem by pretending it didn’t happen.</a:t>
            </a:r>
            <a:endParaRPr lang="zh-TW" altLang="en-US" dirty="0"/>
          </a:p>
        </p:txBody>
      </p:sp>
    </p:spTree>
    <p:extLst>
      <p:ext uri="{BB962C8B-B14F-4D97-AF65-F5344CB8AC3E}">
        <p14:creationId xmlns:p14="http://schemas.microsoft.com/office/powerpoint/2010/main" val="388258864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1A3A14-4652-4610-8868-A320B2DD787F}"/>
              </a:ext>
            </a:extLst>
          </p:cNvPr>
          <p:cNvSpPr>
            <a:spLocks noGrp="1"/>
          </p:cNvSpPr>
          <p:nvPr>
            <p:ph type="title"/>
          </p:nvPr>
        </p:nvSpPr>
        <p:spPr/>
        <p:txBody>
          <a:bodyPr/>
          <a:lstStyle/>
          <a:p>
            <a:r>
              <a:rPr lang="en-US" altLang="zh-TW" dirty="0"/>
              <a:t>Rollback</a:t>
            </a:r>
            <a:endParaRPr lang="zh-TW" altLang="en-US" dirty="0"/>
          </a:p>
        </p:txBody>
      </p:sp>
      <p:sp>
        <p:nvSpPr>
          <p:cNvPr id="3" name="內容版面配置區 2">
            <a:extLst>
              <a:ext uri="{FF2B5EF4-FFF2-40B4-BE49-F238E27FC236}">
                <a16:creationId xmlns:a16="http://schemas.microsoft.com/office/drawing/2014/main" id="{A8F3F2DD-2D6E-4C16-8D72-80AE5E7522CB}"/>
              </a:ext>
            </a:extLst>
          </p:cNvPr>
          <p:cNvSpPr>
            <a:spLocks noGrp="1"/>
          </p:cNvSpPr>
          <p:nvPr>
            <p:ph idx="1"/>
          </p:nvPr>
        </p:nvSpPr>
        <p:spPr/>
        <p:txBody>
          <a:bodyPr/>
          <a:lstStyle/>
          <a:p>
            <a:r>
              <a:rPr lang="en-US" altLang="zh-TW" dirty="0"/>
              <a:t>It is not uncommon for your game project to become beyond saving.</a:t>
            </a:r>
          </a:p>
          <a:p>
            <a:pPr lvl="1"/>
            <a:r>
              <a:rPr lang="en-US" altLang="zh-TW" dirty="0"/>
              <a:t>When your game engine </a:t>
            </a:r>
            <a:r>
              <a:rPr lang="en-US" altLang="zh-TW" b="1" dirty="0"/>
              <a:t>crashes</a:t>
            </a:r>
            <a:r>
              <a:rPr lang="en-US" altLang="zh-TW" dirty="0"/>
              <a:t>, some metadata may be </a:t>
            </a:r>
            <a:r>
              <a:rPr lang="en-US" altLang="zh-TW" b="1" dirty="0"/>
              <a:t>corrupted</a:t>
            </a:r>
            <a:r>
              <a:rPr lang="en-US" altLang="zh-TW" dirty="0"/>
              <a:t>.</a:t>
            </a:r>
          </a:p>
          <a:p>
            <a:pPr lvl="1"/>
            <a:r>
              <a:rPr lang="en-US" altLang="zh-TW" dirty="0"/>
              <a:t>There might be too many merge conflicts or bugs for you to solve after merging.</a:t>
            </a:r>
          </a:p>
          <a:p>
            <a:r>
              <a:rPr lang="en-US" altLang="zh-TW" dirty="0"/>
              <a:t>It’s important to realize that sometimes it’s faster and easier to rollback to an older version.</a:t>
            </a:r>
            <a:endParaRPr lang="zh-TW" altLang="en-US" dirty="0"/>
          </a:p>
        </p:txBody>
      </p:sp>
    </p:spTree>
    <p:extLst>
      <p:ext uri="{BB962C8B-B14F-4D97-AF65-F5344CB8AC3E}">
        <p14:creationId xmlns:p14="http://schemas.microsoft.com/office/powerpoint/2010/main" val="2995286270"/>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936199-FFDF-47F9-B5C8-19FAD0EEA9E4}"/>
              </a:ext>
            </a:extLst>
          </p:cNvPr>
          <p:cNvSpPr>
            <a:spLocks noGrp="1"/>
          </p:cNvSpPr>
          <p:nvPr>
            <p:ph type="title"/>
          </p:nvPr>
        </p:nvSpPr>
        <p:spPr/>
        <p:txBody>
          <a:bodyPr/>
          <a:lstStyle/>
          <a:p>
            <a:r>
              <a:rPr lang="en-US" altLang="zh-TW" dirty="0"/>
              <a:t>Discarding changes</a:t>
            </a:r>
            <a:endParaRPr lang="zh-TW" altLang="en-US" dirty="0"/>
          </a:p>
        </p:txBody>
      </p:sp>
      <p:sp>
        <p:nvSpPr>
          <p:cNvPr id="3" name="內容版面配置區 2">
            <a:extLst>
              <a:ext uri="{FF2B5EF4-FFF2-40B4-BE49-F238E27FC236}">
                <a16:creationId xmlns:a16="http://schemas.microsoft.com/office/drawing/2014/main" id="{D2BD8405-6AB0-470A-8ADD-8F12CEC621BF}"/>
              </a:ext>
            </a:extLst>
          </p:cNvPr>
          <p:cNvSpPr>
            <a:spLocks noGrp="1"/>
          </p:cNvSpPr>
          <p:nvPr>
            <p:ph idx="1"/>
          </p:nvPr>
        </p:nvSpPr>
        <p:spPr/>
        <p:txBody>
          <a:bodyPr/>
          <a:lstStyle/>
          <a:p>
            <a:r>
              <a:rPr lang="en-US" altLang="zh-TW" dirty="0"/>
              <a:t>If it’s just that your game engine crashed and corrupted some data, you can discard the files that were changed unexpectedly.</a:t>
            </a:r>
          </a:p>
          <a:p>
            <a:r>
              <a:rPr lang="en-US" altLang="zh-TW" dirty="0"/>
              <a:t>For git, you can use </a:t>
            </a:r>
            <a:r>
              <a:rPr lang="en-US" altLang="zh-TW" b="1" dirty="0"/>
              <a:t>git checkout</a:t>
            </a:r>
            <a:r>
              <a:rPr lang="en-US" altLang="zh-TW" dirty="0"/>
              <a:t> to discard uncommitted changes to a file.</a:t>
            </a:r>
          </a:p>
        </p:txBody>
      </p:sp>
      <p:sp>
        <p:nvSpPr>
          <p:cNvPr id="4" name="TextBox 3">
            <a:extLst>
              <a:ext uri="{FF2B5EF4-FFF2-40B4-BE49-F238E27FC236}">
                <a16:creationId xmlns:a16="http://schemas.microsoft.com/office/drawing/2014/main" id="{2969C588-B24B-444E-B20D-8C8DEC6133AF}"/>
              </a:ext>
            </a:extLst>
          </p:cNvPr>
          <p:cNvSpPr txBox="1">
            <a:spLocks/>
          </p:cNvSpPr>
          <p:nvPr/>
        </p:nvSpPr>
        <p:spPr>
          <a:xfrm>
            <a:off x="457200" y="5301208"/>
            <a:ext cx="8229600" cy="400110"/>
          </a:xfrm>
          <a:prstGeom prst="rect">
            <a:avLst/>
          </a:prstGeom>
          <a:solidFill>
            <a:srgbClr val="FAFAC8"/>
          </a:solidFill>
          <a:ln>
            <a:solidFill>
              <a:schemeClr val="tx1"/>
            </a:solidFill>
          </a:ln>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pPr>
            <a:r>
              <a:rPr lang="en-US" altLang="zh-TW" sz="2000" dirty="0"/>
              <a:t>git checkout -- &lt;filename&gt;</a:t>
            </a:r>
          </a:p>
        </p:txBody>
      </p:sp>
      <p:sp>
        <p:nvSpPr>
          <p:cNvPr id="5" name="文字方塊 4">
            <a:extLst>
              <a:ext uri="{FF2B5EF4-FFF2-40B4-BE49-F238E27FC236}">
                <a16:creationId xmlns:a16="http://schemas.microsoft.com/office/drawing/2014/main" id="{583B21BC-84E5-4546-9419-3643502053B8}"/>
              </a:ext>
            </a:extLst>
          </p:cNvPr>
          <p:cNvSpPr txBox="1"/>
          <p:nvPr/>
        </p:nvSpPr>
        <p:spPr>
          <a:xfrm>
            <a:off x="107504" y="6381328"/>
            <a:ext cx="3888432" cy="369332"/>
          </a:xfrm>
          <a:prstGeom prst="rect">
            <a:avLst/>
          </a:prstGeom>
          <a:noFill/>
        </p:spPr>
        <p:txBody>
          <a:bodyPr wrap="square" rtlCol="0">
            <a:spAutoFit/>
          </a:bodyPr>
          <a:lstStyle/>
          <a:p>
            <a:r>
              <a:rPr lang="en-US" altLang="zh-TW" dirty="0">
                <a:hlinkClick r:id="rId2"/>
              </a:rPr>
              <a:t>Git – git-checkout Documentation</a:t>
            </a:r>
            <a:endParaRPr lang="zh-TW" altLang="en-US" dirty="0"/>
          </a:p>
        </p:txBody>
      </p:sp>
    </p:spTree>
    <p:extLst>
      <p:ext uri="{BB962C8B-B14F-4D97-AF65-F5344CB8AC3E}">
        <p14:creationId xmlns:p14="http://schemas.microsoft.com/office/powerpoint/2010/main" val="114636591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5DAE3F-CECB-4C09-B74F-85E13560A66C}"/>
              </a:ext>
            </a:extLst>
          </p:cNvPr>
          <p:cNvSpPr>
            <a:spLocks noGrp="1"/>
          </p:cNvSpPr>
          <p:nvPr>
            <p:ph type="title"/>
          </p:nvPr>
        </p:nvSpPr>
        <p:spPr>
          <a:xfrm>
            <a:off x="457200" y="274638"/>
            <a:ext cx="8229600" cy="1143000"/>
          </a:xfrm>
        </p:spPr>
        <p:txBody>
          <a:bodyPr anchor="ctr">
            <a:normAutofit/>
          </a:bodyPr>
          <a:lstStyle/>
          <a:p>
            <a:r>
              <a:rPr lang="en-US" altLang="zh-TW" dirty="0"/>
              <a:t>Discarding changes (VS Code)</a:t>
            </a:r>
            <a:endParaRPr lang="zh-TW" altLang="en-US" dirty="0"/>
          </a:p>
        </p:txBody>
      </p:sp>
      <p:pic>
        <p:nvPicPr>
          <p:cNvPr id="5" name="內容版面配置區 4" descr="一張含有 文字 的圖片&#10;&#10;自動產生的描述">
            <a:extLst>
              <a:ext uri="{FF2B5EF4-FFF2-40B4-BE49-F238E27FC236}">
                <a16:creationId xmlns:a16="http://schemas.microsoft.com/office/drawing/2014/main" id="{EE45E7E7-72C1-499E-AA94-68694EDC5F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3828" y="1600200"/>
            <a:ext cx="5536344" cy="4525963"/>
          </a:xfrm>
          <a:noFill/>
        </p:spPr>
      </p:pic>
      <p:sp>
        <p:nvSpPr>
          <p:cNvPr id="6" name="矩形 5">
            <a:extLst>
              <a:ext uri="{FF2B5EF4-FFF2-40B4-BE49-F238E27FC236}">
                <a16:creationId xmlns:a16="http://schemas.microsoft.com/office/drawing/2014/main" id="{6444F86F-3923-4E56-BE97-96B4D994DF1C}"/>
              </a:ext>
            </a:extLst>
          </p:cNvPr>
          <p:cNvSpPr/>
          <p:nvPr/>
        </p:nvSpPr>
        <p:spPr>
          <a:xfrm>
            <a:off x="1835717" y="3214023"/>
            <a:ext cx="504056" cy="405950"/>
          </a:xfrm>
          <a:prstGeom prst="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FFCE74E2-DE16-4C49-AF12-A22BC68A5412}"/>
              </a:ext>
            </a:extLst>
          </p:cNvPr>
          <p:cNvSpPr txBox="1"/>
          <p:nvPr/>
        </p:nvSpPr>
        <p:spPr>
          <a:xfrm>
            <a:off x="2195736" y="3619973"/>
            <a:ext cx="576064" cy="523220"/>
          </a:xfrm>
          <a:prstGeom prst="rect">
            <a:avLst/>
          </a:prstGeom>
          <a:noFill/>
        </p:spPr>
        <p:txBody>
          <a:bodyPr wrap="square" rtlCol="0">
            <a:spAutoFit/>
          </a:bodyPr>
          <a:lstStyle/>
          <a:p>
            <a:r>
              <a:rPr lang="en-US" altLang="zh-TW" sz="2800" b="1" dirty="0">
                <a:solidFill>
                  <a:srgbClr val="FF0000"/>
                </a:solidFill>
              </a:rPr>
              <a:t>1.</a:t>
            </a:r>
            <a:endParaRPr lang="zh-TW" altLang="en-US" sz="2800" b="1" dirty="0">
              <a:solidFill>
                <a:srgbClr val="FF0000"/>
              </a:solidFill>
            </a:endParaRPr>
          </a:p>
        </p:txBody>
      </p:sp>
      <p:sp>
        <p:nvSpPr>
          <p:cNvPr id="8" name="矩形 7">
            <a:extLst>
              <a:ext uri="{FF2B5EF4-FFF2-40B4-BE49-F238E27FC236}">
                <a16:creationId xmlns:a16="http://schemas.microsoft.com/office/drawing/2014/main" id="{6ED37EF1-CB8E-4BC6-835B-453972C607FE}"/>
              </a:ext>
            </a:extLst>
          </p:cNvPr>
          <p:cNvSpPr/>
          <p:nvPr/>
        </p:nvSpPr>
        <p:spPr>
          <a:xfrm>
            <a:off x="2555776" y="3031461"/>
            <a:ext cx="2664296" cy="405950"/>
          </a:xfrm>
          <a:prstGeom prst="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0F6EA06E-ED75-4F64-8717-B8E27B909F6E}"/>
              </a:ext>
            </a:extLst>
          </p:cNvPr>
          <p:cNvSpPr txBox="1"/>
          <p:nvPr/>
        </p:nvSpPr>
        <p:spPr>
          <a:xfrm>
            <a:off x="2795756" y="3493849"/>
            <a:ext cx="2534212" cy="369332"/>
          </a:xfrm>
          <a:prstGeom prst="rect">
            <a:avLst/>
          </a:prstGeom>
          <a:noFill/>
        </p:spPr>
        <p:txBody>
          <a:bodyPr wrap="square" rtlCol="0">
            <a:spAutoFit/>
          </a:bodyPr>
          <a:lstStyle/>
          <a:p>
            <a:r>
              <a:rPr lang="en-US" altLang="zh-TW" b="1" dirty="0">
                <a:solidFill>
                  <a:srgbClr val="FF0000"/>
                </a:solidFill>
              </a:rPr>
              <a:t>2. Right click the file</a:t>
            </a:r>
            <a:endParaRPr lang="zh-TW" altLang="en-US" b="1" dirty="0">
              <a:solidFill>
                <a:srgbClr val="FF0000"/>
              </a:solidFill>
            </a:endParaRPr>
          </a:p>
        </p:txBody>
      </p:sp>
      <p:sp>
        <p:nvSpPr>
          <p:cNvPr id="10" name="文字方塊 9">
            <a:extLst>
              <a:ext uri="{FF2B5EF4-FFF2-40B4-BE49-F238E27FC236}">
                <a16:creationId xmlns:a16="http://schemas.microsoft.com/office/drawing/2014/main" id="{DBAACC5E-5033-4AF4-B0FC-903890D4FF1C}"/>
              </a:ext>
            </a:extLst>
          </p:cNvPr>
          <p:cNvSpPr txBox="1"/>
          <p:nvPr/>
        </p:nvSpPr>
        <p:spPr>
          <a:xfrm>
            <a:off x="4499992" y="4597121"/>
            <a:ext cx="576064" cy="523220"/>
          </a:xfrm>
          <a:prstGeom prst="rect">
            <a:avLst/>
          </a:prstGeom>
          <a:noFill/>
        </p:spPr>
        <p:txBody>
          <a:bodyPr wrap="square" rtlCol="0">
            <a:spAutoFit/>
          </a:bodyPr>
          <a:lstStyle/>
          <a:p>
            <a:r>
              <a:rPr lang="en-US" altLang="zh-TW" sz="2800" b="1" dirty="0">
                <a:solidFill>
                  <a:srgbClr val="FF0000"/>
                </a:solidFill>
              </a:rPr>
              <a:t>3.</a:t>
            </a:r>
            <a:endParaRPr lang="zh-TW" altLang="en-US" sz="2800" b="1" dirty="0">
              <a:solidFill>
                <a:srgbClr val="FF0000"/>
              </a:solidFill>
            </a:endParaRPr>
          </a:p>
        </p:txBody>
      </p:sp>
      <p:sp>
        <p:nvSpPr>
          <p:cNvPr id="11" name="矩形 10">
            <a:extLst>
              <a:ext uri="{FF2B5EF4-FFF2-40B4-BE49-F238E27FC236}">
                <a16:creationId xmlns:a16="http://schemas.microsoft.com/office/drawing/2014/main" id="{8A4CCA8D-9DC4-48AC-A865-CD8183AFBAA4}"/>
              </a:ext>
            </a:extLst>
          </p:cNvPr>
          <p:cNvSpPr/>
          <p:nvPr/>
        </p:nvSpPr>
        <p:spPr>
          <a:xfrm>
            <a:off x="4963908" y="4365510"/>
            <a:ext cx="2272388" cy="405950"/>
          </a:xfrm>
          <a:prstGeom prst="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Tree>
    <p:extLst>
      <p:ext uri="{BB962C8B-B14F-4D97-AF65-F5344CB8AC3E}">
        <p14:creationId xmlns:p14="http://schemas.microsoft.com/office/powerpoint/2010/main" val="407201862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390692-731C-402F-9E04-34FC606DCBB6}"/>
              </a:ext>
            </a:extLst>
          </p:cNvPr>
          <p:cNvSpPr>
            <a:spLocks noGrp="1"/>
          </p:cNvSpPr>
          <p:nvPr>
            <p:ph type="title"/>
          </p:nvPr>
        </p:nvSpPr>
        <p:spPr/>
        <p:txBody>
          <a:bodyPr/>
          <a:lstStyle/>
          <a:p>
            <a:r>
              <a:rPr lang="en-US" altLang="zh-TW" dirty="0"/>
              <a:t>Undoing commits</a:t>
            </a:r>
            <a:endParaRPr lang="zh-TW" altLang="en-US" dirty="0"/>
          </a:p>
        </p:txBody>
      </p:sp>
      <p:sp>
        <p:nvSpPr>
          <p:cNvPr id="3" name="內容版面配置區 2">
            <a:extLst>
              <a:ext uri="{FF2B5EF4-FFF2-40B4-BE49-F238E27FC236}">
                <a16:creationId xmlns:a16="http://schemas.microsoft.com/office/drawing/2014/main" id="{DB9635DC-9B39-4869-85F8-1631525402EE}"/>
              </a:ext>
            </a:extLst>
          </p:cNvPr>
          <p:cNvSpPr>
            <a:spLocks noGrp="1"/>
          </p:cNvSpPr>
          <p:nvPr>
            <p:ph idx="1"/>
          </p:nvPr>
        </p:nvSpPr>
        <p:spPr/>
        <p:txBody>
          <a:bodyPr/>
          <a:lstStyle/>
          <a:p>
            <a:r>
              <a:rPr lang="en-US" altLang="zh-TW" dirty="0"/>
              <a:t>Usually, when something goes wrong, it’s because of a recent commit, such as the commit that comes from merging.</a:t>
            </a:r>
          </a:p>
          <a:p>
            <a:r>
              <a:rPr lang="en-US" altLang="zh-TW" dirty="0"/>
              <a:t>In VS Code, you can use the </a:t>
            </a:r>
            <a:r>
              <a:rPr lang="en-US" altLang="zh-TW" b="1" dirty="0"/>
              <a:t>“undo last commit” </a:t>
            </a:r>
            <a:r>
              <a:rPr lang="en-US" altLang="zh-TW" dirty="0"/>
              <a:t>button to put all changes back to the list of uncommitted changes, which you can then discard or keep.</a:t>
            </a:r>
          </a:p>
        </p:txBody>
      </p:sp>
    </p:spTree>
    <p:extLst>
      <p:ext uri="{BB962C8B-B14F-4D97-AF65-F5344CB8AC3E}">
        <p14:creationId xmlns:p14="http://schemas.microsoft.com/office/powerpoint/2010/main" val="270062587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FE6D5E-BB49-4D1A-8FCC-C515B0EABB8B}"/>
              </a:ext>
            </a:extLst>
          </p:cNvPr>
          <p:cNvSpPr>
            <a:spLocks noGrp="1"/>
          </p:cNvSpPr>
          <p:nvPr>
            <p:ph type="title"/>
          </p:nvPr>
        </p:nvSpPr>
        <p:spPr/>
        <p:txBody>
          <a:bodyPr/>
          <a:lstStyle/>
          <a:p>
            <a:r>
              <a:rPr lang="en-US" altLang="zh-TW" dirty="0"/>
              <a:t>Undoing commits</a:t>
            </a:r>
            <a:endParaRPr lang="zh-TW" altLang="en-US" dirty="0"/>
          </a:p>
        </p:txBody>
      </p:sp>
      <p:pic>
        <p:nvPicPr>
          <p:cNvPr id="5" name="內容版面配置區 4" descr="一張含有 文字 的圖片&#10;&#10;自動產生的描述">
            <a:extLst>
              <a:ext uri="{FF2B5EF4-FFF2-40B4-BE49-F238E27FC236}">
                <a16:creationId xmlns:a16="http://schemas.microsoft.com/office/drawing/2014/main" id="{0D3D6517-FF39-4760-8547-917E312FBA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2558" y="1772816"/>
            <a:ext cx="5138884" cy="4282404"/>
          </a:xfrm>
        </p:spPr>
      </p:pic>
      <p:sp>
        <p:nvSpPr>
          <p:cNvPr id="6" name="矩形 5">
            <a:extLst>
              <a:ext uri="{FF2B5EF4-FFF2-40B4-BE49-F238E27FC236}">
                <a16:creationId xmlns:a16="http://schemas.microsoft.com/office/drawing/2014/main" id="{7A690B62-1964-4983-A647-155A94F50612}"/>
              </a:ext>
            </a:extLst>
          </p:cNvPr>
          <p:cNvSpPr/>
          <p:nvPr/>
        </p:nvSpPr>
        <p:spPr>
          <a:xfrm>
            <a:off x="5292080" y="4365104"/>
            <a:ext cx="1849362" cy="288032"/>
          </a:xfrm>
          <a:prstGeom prst="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7" name="矩形 6">
            <a:extLst>
              <a:ext uri="{FF2B5EF4-FFF2-40B4-BE49-F238E27FC236}">
                <a16:creationId xmlns:a16="http://schemas.microsoft.com/office/drawing/2014/main" id="{0F6AF8F7-33BE-49F4-9837-DE96F015F3FC}"/>
              </a:ext>
            </a:extLst>
          </p:cNvPr>
          <p:cNvSpPr/>
          <p:nvPr/>
        </p:nvSpPr>
        <p:spPr>
          <a:xfrm>
            <a:off x="2002558" y="2775450"/>
            <a:ext cx="337194" cy="288032"/>
          </a:xfrm>
          <a:prstGeom prst="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8" name="矩形 7">
            <a:extLst>
              <a:ext uri="{FF2B5EF4-FFF2-40B4-BE49-F238E27FC236}">
                <a16:creationId xmlns:a16="http://schemas.microsoft.com/office/drawing/2014/main" id="{6544A78A-9A27-498C-B9FD-87A9D908BB21}"/>
              </a:ext>
            </a:extLst>
          </p:cNvPr>
          <p:cNvSpPr/>
          <p:nvPr/>
        </p:nvSpPr>
        <p:spPr>
          <a:xfrm>
            <a:off x="3779912" y="1954298"/>
            <a:ext cx="337194" cy="288032"/>
          </a:xfrm>
          <a:prstGeom prst="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9" name="矩形 8">
            <a:extLst>
              <a:ext uri="{FF2B5EF4-FFF2-40B4-BE49-F238E27FC236}">
                <a16:creationId xmlns:a16="http://schemas.microsoft.com/office/drawing/2014/main" id="{661F225C-864F-479E-B0F9-EAA6CEFEC60D}"/>
              </a:ext>
            </a:extLst>
          </p:cNvPr>
          <p:cNvSpPr/>
          <p:nvPr/>
        </p:nvSpPr>
        <p:spPr>
          <a:xfrm>
            <a:off x="3851920" y="3770002"/>
            <a:ext cx="1584176" cy="288032"/>
          </a:xfrm>
          <a:prstGeom prst="rect">
            <a:avLst/>
          </a:prstGeom>
          <a:noFill/>
          <a:ln w="508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EE74148E-A9D8-4CA4-A79A-8514F89F262D}"/>
              </a:ext>
            </a:extLst>
          </p:cNvPr>
          <p:cNvSpPr txBox="1"/>
          <p:nvPr/>
        </p:nvSpPr>
        <p:spPr>
          <a:xfrm>
            <a:off x="2189850" y="3059668"/>
            <a:ext cx="576064" cy="369332"/>
          </a:xfrm>
          <a:prstGeom prst="rect">
            <a:avLst/>
          </a:prstGeom>
          <a:noFill/>
        </p:spPr>
        <p:txBody>
          <a:bodyPr wrap="square" rtlCol="0">
            <a:spAutoFit/>
          </a:bodyPr>
          <a:lstStyle/>
          <a:p>
            <a:r>
              <a:rPr lang="en-US" altLang="zh-TW" b="1" dirty="0">
                <a:solidFill>
                  <a:srgbClr val="FF0000"/>
                </a:solidFill>
              </a:rPr>
              <a:t>1.</a:t>
            </a:r>
            <a:endParaRPr lang="zh-TW" altLang="en-US" b="1" dirty="0">
              <a:solidFill>
                <a:srgbClr val="FF0000"/>
              </a:solidFill>
            </a:endParaRPr>
          </a:p>
        </p:txBody>
      </p:sp>
      <p:sp>
        <p:nvSpPr>
          <p:cNvPr id="11" name="文字方塊 10">
            <a:extLst>
              <a:ext uri="{FF2B5EF4-FFF2-40B4-BE49-F238E27FC236}">
                <a16:creationId xmlns:a16="http://schemas.microsoft.com/office/drawing/2014/main" id="{1D3B6343-8907-471B-8C93-A94A90F9940B}"/>
              </a:ext>
            </a:extLst>
          </p:cNvPr>
          <p:cNvSpPr txBox="1"/>
          <p:nvPr/>
        </p:nvSpPr>
        <p:spPr>
          <a:xfrm>
            <a:off x="4117106" y="1772816"/>
            <a:ext cx="576064" cy="369332"/>
          </a:xfrm>
          <a:prstGeom prst="rect">
            <a:avLst/>
          </a:prstGeom>
          <a:noFill/>
        </p:spPr>
        <p:txBody>
          <a:bodyPr wrap="square" rtlCol="0">
            <a:spAutoFit/>
          </a:bodyPr>
          <a:lstStyle/>
          <a:p>
            <a:r>
              <a:rPr lang="en-US" altLang="zh-TW" b="1" dirty="0">
                <a:solidFill>
                  <a:srgbClr val="FF0000"/>
                </a:solidFill>
              </a:rPr>
              <a:t>2.</a:t>
            </a:r>
            <a:endParaRPr lang="zh-TW" altLang="en-US" b="1" dirty="0">
              <a:solidFill>
                <a:srgbClr val="FF0000"/>
              </a:solidFill>
            </a:endParaRPr>
          </a:p>
        </p:txBody>
      </p:sp>
      <p:sp>
        <p:nvSpPr>
          <p:cNvPr id="12" name="文字方塊 11">
            <a:extLst>
              <a:ext uri="{FF2B5EF4-FFF2-40B4-BE49-F238E27FC236}">
                <a16:creationId xmlns:a16="http://schemas.microsoft.com/office/drawing/2014/main" id="{99A433EC-E976-4808-BDD7-D489CFB29615}"/>
              </a:ext>
            </a:extLst>
          </p:cNvPr>
          <p:cNvSpPr txBox="1"/>
          <p:nvPr/>
        </p:nvSpPr>
        <p:spPr>
          <a:xfrm>
            <a:off x="5402291" y="3400670"/>
            <a:ext cx="576064" cy="369332"/>
          </a:xfrm>
          <a:prstGeom prst="rect">
            <a:avLst/>
          </a:prstGeom>
          <a:noFill/>
        </p:spPr>
        <p:txBody>
          <a:bodyPr wrap="square" rtlCol="0">
            <a:spAutoFit/>
          </a:bodyPr>
          <a:lstStyle/>
          <a:p>
            <a:r>
              <a:rPr lang="en-US" altLang="zh-TW" b="1" dirty="0">
                <a:solidFill>
                  <a:srgbClr val="FF0000"/>
                </a:solidFill>
              </a:rPr>
              <a:t>3.</a:t>
            </a:r>
            <a:endParaRPr lang="zh-TW" altLang="en-US" b="1" dirty="0">
              <a:solidFill>
                <a:srgbClr val="FF0000"/>
              </a:solidFill>
            </a:endParaRPr>
          </a:p>
        </p:txBody>
      </p:sp>
      <p:sp>
        <p:nvSpPr>
          <p:cNvPr id="13" name="文字方塊 12">
            <a:extLst>
              <a:ext uri="{FF2B5EF4-FFF2-40B4-BE49-F238E27FC236}">
                <a16:creationId xmlns:a16="http://schemas.microsoft.com/office/drawing/2014/main" id="{A33D6576-1E72-47E3-827F-6A65E8BFF386}"/>
              </a:ext>
            </a:extLst>
          </p:cNvPr>
          <p:cNvSpPr txBox="1"/>
          <p:nvPr/>
        </p:nvSpPr>
        <p:spPr>
          <a:xfrm>
            <a:off x="5220072" y="4653136"/>
            <a:ext cx="576064" cy="369332"/>
          </a:xfrm>
          <a:prstGeom prst="rect">
            <a:avLst/>
          </a:prstGeom>
          <a:noFill/>
        </p:spPr>
        <p:txBody>
          <a:bodyPr wrap="square" rtlCol="0">
            <a:spAutoFit/>
          </a:bodyPr>
          <a:lstStyle/>
          <a:p>
            <a:r>
              <a:rPr lang="en-US" altLang="zh-TW" b="1" dirty="0">
                <a:solidFill>
                  <a:srgbClr val="FF0000"/>
                </a:solidFill>
              </a:rPr>
              <a:t>4.</a:t>
            </a:r>
            <a:endParaRPr lang="zh-TW" altLang="en-US" b="1" dirty="0">
              <a:solidFill>
                <a:srgbClr val="FF0000"/>
              </a:solidFill>
            </a:endParaRPr>
          </a:p>
        </p:txBody>
      </p:sp>
    </p:spTree>
    <p:extLst>
      <p:ext uri="{BB962C8B-B14F-4D97-AF65-F5344CB8AC3E}">
        <p14:creationId xmlns:p14="http://schemas.microsoft.com/office/powerpoint/2010/main" val="2829987126"/>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6FD1E5-575A-451A-9113-888D8F8D7C98}"/>
              </a:ext>
            </a:extLst>
          </p:cNvPr>
          <p:cNvSpPr>
            <a:spLocks noGrp="1"/>
          </p:cNvSpPr>
          <p:nvPr>
            <p:ph type="title"/>
          </p:nvPr>
        </p:nvSpPr>
        <p:spPr/>
        <p:txBody>
          <a:bodyPr/>
          <a:lstStyle/>
          <a:p>
            <a:r>
              <a:rPr lang="en-US" altLang="zh-TW" dirty="0"/>
              <a:t>Reverting commits</a:t>
            </a:r>
            <a:endParaRPr lang="zh-TW" altLang="en-US" dirty="0"/>
          </a:p>
        </p:txBody>
      </p:sp>
      <p:sp>
        <p:nvSpPr>
          <p:cNvPr id="3" name="內容版面配置區 2">
            <a:extLst>
              <a:ext uri="{FF2B5EF4-FFF2-40B4-BE49-F238E27FC236}">
                <a16:creationId xmlns:a16="http://schemas.microsoft.com/office/drawing/2014/main" id="{CF4C8EB5-65BD-4E49-A54F-E0A073477C56}"/>
              </a:ext>
            </a:extLst>
          </p:cNvPr>
          <p:cNvSpPr>
            <a:spLocks noGrp="1"/>
          </p:cNvSpPr>
          <p:nvPr>
            <p:ph idx="1"/>
          </p:nvPr>
        </p:nvSpPr>
        <p:spPr/>
        <p:txBody>
          <a:bodyPr/>
          <a:lstStyle/>
          <a:p>
            <a:r>
              <a:rPr lang="en-US" altLang="zh-TW" dirty="0"/>
              <a:t>You can also use the more powerful </a:t>
            </a:r>
            <a:r>
              <a:rPr lang="en-US" altLang="zh-TW" b="1" dirty="0"/>
              <a:t>git revert</a:t>
            </a:r>
            <a:r>
              <a:rPr lang="en-US" altLang="zh-TW" dirty="0"/>
              <a:t> command, which can revert any commit, and not just the last one.</a:t>
            </a:r>
          </a:p>
          <a:p>
            <a:r>
              <a:rPr lang="en-US" altLang="zh-TW" b="1" dirty="0"/>
              <a:t>This will create a commit afterwards.</a:t>
            </a:r>
          </a:p>
          <a:p>
            <a:r>
              <a:rPr lang="en-US" altLang="zh-TW" dirty="0"/>
              <a:t>For VS Code, you’ll need extensions such as </a:t>
            </a:r>
            <a:r>
              <a:rPr lang="en-US" altLang="zh-TW" b="1" dirty="0">
                <a:hlinkClick r:id="rId2"/>
              </a:rPr>
              <a:t>Git History</a:t>
            </a:r>
            <a:r>
              <a:rPr lang="en-US" altLang="zh-TW" b="1" dirty="0"/>
              <a:t> </a:t>
            </a:r>
            <a:r>
              <a:rPr lang="en-US" altLang="zh-TW" dirty="0"/>
              <a:t>or </a:t>
            </a:r>
            <a:r>
              <a:rPr lang="en-US" altLang="zh-TW" b="1" dirty="0">
                <a:hlinkClick r:id="rId3"/>
              </a:rPr>
              <a:t>GitLens</a:t>
            </a:r>
            <a:r>
              <a:rPr lang="en-US" altLang="zh-TW" dirty="0"/>
              <a:t>.</a:t>
            </a:r>
          </a:p>
          <a:p>
            <a:r>
              <a:rPr lang="en-US" altLang="zh-TW" dirty="0"/>
              <a:t>See the documentation for a detailed explanation.</a:t>
            </a:r>
          </a:p>
          <a:p>
            <a:endParaRPr lang="zh-TW" altLang="en-US" dirty="0"/>
          </a:p>
        </p:txBody>
      </p:sp>
      <p:sp>
        <p:nvSpPr>
          <p:cNvPr id="4" name="文字方塊 3">
            <a:extLst>
              <a:ext uri="{FF2B5EF4-FFF2-40B4-BE49-F238E27FC236}">
                <a16:creationId xmlns:a16="http://schemas.microsoft.com/office/drawing/2014/main" id="{E59C3995-7B5E-4E2B-9F39-93C3A17C973E}"/>
              </a:ext>
            </a:extLst>
          </p:cNvPr>
          <p:cNvSpPr txBox="1"/>
          <p:nvPr/>
        </p:nvSpPr>
        <p:spPr>
          <a:xfrm>
            <a:off x="107504" y="6381328"/>
            <a:ext cx="3888432" cy="369332"/>
          </a:xfrm>
          <a:prstGeom prst="rect">
            <a:avLst/>
          </a:prstGeom>
          <a:noFill/>
        </p:spPr>
        <p:txBody>
          <a:bodyPr wrap="square" rtlCol="0">
            <a:spAutoFit/>
          </a:bodyPr>
          <a:lstStyle/>
          <a:p>
            <a:r>
              <a:rPr lang="en-US" altLang="zh-TW" dirty="0">
                <a:hlinkClick r:id="rId4"/>
              </a:rPr>
              <a:t>Git – git-revert Documentation</a:t>
            </a:r>
            <a:endParaRPr lang="zh-TW" altLang="en-US" dirty="0"/>
          </a:p>
        </p:txBody>
      </p:sp>
    </p:spTree>
    <p:extLst>
      <p:ext uri="{BB962C8B-B14F-4D97-AF65-F5344CB8AC3E}">
        <p14:creationId xmlns:p14="http://schemas.microsoft.com/office/powerpoint/2010/main" val="3045349045"/>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76B4F4-8B51-4B15-AF05-3A25122F7F59}"/>
              </a:ext>
            </a:extLst>
          </p:cNvPr>
          <p:cNvSpPr>
            <a:spLocks noGrp="1"/>
          </p:cNvSpPr>
          <p:nvPr>
            <p:ph type="title"/>
          </p:nvPr>
        </p:nvSpPr>
        <p:spPr/>
        <p:txBody>
          <a:bodyPr/>
          <a:lstStyle/>
          <a:p>
            <a:r>
              <a:rPr lang="en-US" altLang="zh-TW" dirty="0"/>
              <a:t>Closing Notes</a:t>
            </a:r>
            <a:endParaRPr lang="zh-TW" altLang="en-US" dirty="0"/>
          </a:p>
        </p:txBody>
      </p:sp>
      <p:sp>
        <p:nvSpPr>
          <p:cNvPr id="3" name="內容版面配置區 2">
            <a:extLst>
              <a:ext uri="{FF2B5EF4-FFF2-40B4-BE49-F238E27FC236}">
                <a16:creationId xmlns:a16="http://schemas.microsoft.com/office/drawing/2014/main" id="{D6ABF873-6223-4418-8EDC-30A9D7AC8854}"/>
              </a:ext>
            </a:extLst>
          </p:cNvPr>
          <p:cNvSpPr>
            <a:spLocks noGrp="1"/>
          </p:cNvSpPr>
          <p:nvPr>
            <p:ph idx="1"/>
          </p:nvPr>
        </p:nvSpPr>
        <p:spPr/>
        <p:txBody>
          <a:bodyPr/>
          <a:lstStyle/>
          <a:p>
            <a:r>
              <a:rPr lang="en-US" altLang="zh-TW" dirty="0"/>
              <a:t>While this course is about making (frontend) software, it is not a course about </a:t>
            </a:r>
            <a:r>
              <a:rPr lang="en-US" altLang="zh-TW" b="1" dirty="0"/>
              <a:t>software engineering</a:t>
            </a:r>
            <a:r>
              <a:rPr lang="en-US" altLang="zh-TW" dirty="0"/>
              <a:t>, and so these slides only cover the bare minimum for </a:t>
            </a:r>
            <a:r>
              <a:rPr lang="en-US" altLang="zh-TW" b="1" dirty="0"/>
              <a:t>small-scale development</a:t>
            </a:r>
            <a:r>
              <a:rPr lang="en-US" altLang="zh-TW" dirty="0"/>
              <a:t>.</a:t>
            </a:r>
          </a:p>
          <a:p>
            <a:r>
              <a:rPr lang="en-US" altLang="zh-TW" dirty="0"/>
              <a:t>Consider taking the course Software Engineering (CS446100) to learn more about this topic.</a:t>
            </a:r>
          </a:p>
        </p:txBody>
      </p:sp>
    </p:spTree>
    <p:extLst>
      <p:ext uri="{BB962C8B-B14F-4D97-AF65-F5344CB8AC3E}">
        <p14:creationId xmlns:p14="http://schemas.microsoft.com/office/powerpoint/2010/main" val="1351485925"/>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5BABE-79BA-486B-93E1-66A0E54CED84}"/>
              </a:ext>
            </a:extLst>
          </p:cNvPr>
          <p:cNvSpPr>
            <a:spLocks noGrp="1"/>
          </p:cNvSpPr>
          <p:nvPr>
            <p:ph type="title"/>
          </p:nvPr>
        </p:nvSpPr>
        <p:spPr/>
        <p:txBody>
          <a:bodyPr/>
          <a:lstStyle/>
          <a:p>
            <a:r>
              <a:rPr lang="en-US" altLang="zh-TW" dirty="0"/>
              <a:t>Takeaways</a:t>
            </a:r>
            <a:endParaRPr lang="zh-TW" altLang="en-US" dirty="0"/>
          </a:p>
        </p:txBody>
      </p:sp>
      <p:sp>
        <p:nvSpPr>
          <p:cNvPr id="3" name="內容版面配置區 2">
            <a:extLst>
              <a:ext uri="{FF2B5EF4-FFF2-40B4-BE49-F238E27FC236}">
                <a16:creationId xmlns:a16="http://schemas.microsoft.com/office/drawing/2014/main" id="{452F73C0-E2F0-423B-A249-13FD7DCB9A46}"/>
              </a:ext>
            </a:extLst>
          </p:cNvPr>
          <p:cNvSpPr>
            <a:spLocks noGrp="1"/>
          </p:cNvSpPr>
          <p:nvPr>
            <p:ph idx="1"/>
          </p:nvPr>
        </p:nvSpPr>
        <p:spPr/>
        <p:txBody>
          <a:bodyPr>
            <a:normAutofit/>
          </a:bodyPr>
          <a:lstStyle/>
          <a:p>
            <a:r>
              <a:rPr lang="en-US" altLang="zh-TW" dirty="0"/>
              <a:t>Please </a:t>
            </a:r>
            <a:r>
              <a:rPr lang="en-US" altLang="zh-TW"/>
              <a:t>use Git.</a:t>
            </a:r>
            <a:endParaRPr lang="en-US" altLang="zh-TW" dirty="0"/>
          </a:p>
          <a:p>
            <a:r>
              <a:rPr lang="en-US" altLang="zh-TW" dirty="0"/>
              <a:t>Only ever add files to the project </a:t>
            </a:r>
            <a:r>
              <a:rPr lang="en-US" altLang="zh-TW" b="1" dirty="0"/>
              <a:t>through the editor GUI</a:t>
            </a:r>
            <a:r>
              <a:rPr lang="en-US" altLang="zh-TW" dirty="0"/>
              <a:t>.</a:t>
            </a:r>
          </a:p>
          <a:p>
            <a:r>
              <a:rPr lang="en-US" altLang="zh-TW" dirty="0"/>
              <a:t>Avoid having more than </a:t>
            </a:r>
            <a:r>
              <a:rPr lang="en-US" altLang="zh-TW" b="1" dirty="0"/>
              <a:t>one person</a:t>
            </a:r>
            <a:r>
              <a:rPr lang="en-US" altLang="zh-TW" dirty="0"/>
              <a:t> modifying the same scene. </a:t>
            </a:r>
          </a:p>
          <a:p>
            <a:r>
              <a:rPr lang="en-US" altLang="zh-TW" dirty="0"/>
              <a:t>Break down a scene into independent </a:t>
            </a:r>
            <a:r>
              <a:rPr lang="en-US" altLang="zh-TW" b="1" dirty="0"/>
              <a:t>prefabs</a:t>
            </a:r>
            <a:r>
              <a:rPr lang="en-US" altLang="zh-TW" dirty="0"/>
              <a:t> and use </a:t>
            </a:r>
            <a:r>
              <a:rPr lang="en-US" altLang="zh-TW" b="1" dirty="0"/>
              <a:t>abstraction layers </a:t>
            </a:r>
            <a:r>
              <a:rPr lang="en-US" altLang="zh-TW" dirty="0"/>
              <a:t>to make merging trivial.</a:t>
            </a:r>
          </a:p>
          <a:p>
            <a:endParaRPr lang="en-US" altLang="zh-TW" dirty="0"/>
          </a:p>
        </p:txBody>
      </p:sp>
    </p:spTree>
    <p:extLst>
      <p:ext uri="{BB962C8B-B14F-4D97-AF65-F5344CB8AC3E}">
        <p14:creationId xmlns:p14="http://schemas.microsoft.com/office/powerpoint/2010/main" val="245664304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74936"/>
            <a:ext cx="9144000" cy="3983064"/>
          </a:xfrm>
          <a:prstGeom prst="rect">
            <a:avLst/>
          </a:prstGeom>
        </p:spPr>
      </p:pic>
      <p:pic>
        <p:nvPicPr>
          <p:cNvPr id="6" name="Picture 5" descr="thank-you.png"/>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87624" y="0"/>
            <a:ext cx="4170733" cy="4325752"/>
          </a:xfrm>
          <a:prstGeom prst="rect">
            <a:avLst/>
          </a:prstGeom>
        </p:spPr>
      </p:pic>
      <p:grpSp>
        <p:nvGrpSpPr>
          <p:cNvPr id="7" name="群組 14"/>
          <p:cNvGrpSpPr/>
          <p:nvPr/>
        </p:nvGrpSpPr>
        <p:grpSpPr>
          <a:xfrm>
            <a:off x="7668344" y="5877272"/>
            <a:ext cx="1391012" cy="926572"/>
            <a:chOff x="3563888" y="4221088"/>
            <a:chExt cx="1391012" cy="926572"/>
          </a:xfrm>
        </p:grpSpPr>
        <p:pic>
          <p:nvPicPr>
            <p:cNvPr id="8" name="Picture 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563888" y="4221088"/>
              <a:ext cx="936104" cy="92657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Users\James\Downloads\GIF\清大LOGO(鳥).g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54799" y="4511434"/>
              <a:ext cx="900101" cy="44883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63071248"/>
      </p:ext>
    </p:extLst>
  </p:cSld>
  <p:clrMapOvr>
    <a:masterClrMapping/>
  </p:clrMapOvr>
  <p:transition>
    <p:fade/>
  </p:transition>
</p:sld>
</file>

<file path=ppt/theme/theme1.xml><?xml version="1.0" encoding="utf-8"?>
<a:theme xmlns:a="http://schemas.openxmlformats.org/drawingml/2006/main" name="Course_PPTX_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簡報5" id="{0BEFD3DD-8257-CC49-A72F-66F904296101}" vid="{352BCE09-1A75-9E41-8EDD-0FBD23D4AD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B293D44-CF12-42FB-A90A-456DFC87D2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Course_PPTX_Template</Template>
  <TotalTime>4</TotalTime>
  <Words>3337</Words>
  <Application>Microsoft Office PowerPoint</Application>
  <PresentationFormat>如螢幕大小 (4:3)</PresentationFormat>
  <Paragraphs>259</Paragraphs>
  <Slides>55</Slides>
  <Notes>29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55</vt:i4>
      </vt:variant>
    </vt:vector>
  </HeadingPairs>
  <TitlesOfParts>
    <vt:vector size="60" baseType="lpstr">
      <vt:lpstr>Stencil Std</vt:lpstr>
      <vt:lpstr>Arial</vt:lpstr>
      <vt:lpstr>Calibri</vt:lpstr>
      <vt:lpstr>Consolas</vt:lpstr>
      <vt:lpstr>Course_PPTX_Theme</vt:lpstr>
      <vt:lpstr>Game Development Tips</vt:lpstr>
      <vt:lpstr>Outline</vt:lpstr>
      <vt:lpstr>Before we start…</vt:lpstr>
      <vt:lpstr>Motivation</vt:lpstr>
      <vt:lpstr>Motivation</vt:lpstr>
      <vt:lpstr>Motivation</vt:lpstr>
      <vt:lpstr>Version Control</vt:lpstr>
      <vt:lpstr>Version Control</vt:lpstr>
      <vt:lpstr>Project Structure</vt:lpstr>
      <vt:lpstr>SERIALIZATION PROBLEMS</vt:lpstr>
      <vt:lpstr>Serialization</vt:lpstr>
      <vt:lpstr>Serialization Example</vt:lpstr>
      <vt:lpstr>Serialization Example</vt:lpstr>
      <vt:lpstr>Serialization</vt:lpstr>
      <vt:lpstr>Serialization Conflict</vt:lpstr>
      <vt:lpstr>Serialization Conflict (Cont.d)</vt:lpstr>
      <vt:lpstr>Serialization Conflict (Cont.d)</vt:lpstr>
      <vt:lpstr>Serialization Conflict (Cont.d)</vt:lpstr>
      <vt:lpstr>Serialization Conflict (Solution)</vt:lpstr>
      <vt:lpstr>Class Serialization</vt:lpstr>
      <vt:lpstr>Class Serialization (Solution)</vt:lpstr>
      <vt:lpstr>Merging</vt:lpstr>
      <vt:lpstr>Merging</vt:lpstr>
      <vt:lpstr>Naïve Merging</vt:lpstr>
      <vt:lpstr>Naïve Merging</vt:lpstr>
      <vt:lpstr>Better Merging</vt:lpstr>
      <vt:lpstr>Better Merging</vt:lpstr>
      <vt:lpstr>Even Better Merging</vt:lpstr>
      <vt:lpstr>Even Better Merging</vt:lpstr>
      <vt:lpstr>Even Better Merging</vt:lpstr>
      <vt:lpstr>Even Better Merging</vt:lpstr>
      <vt:lpstr>Even Better Merging</vt:lpstr>
      <vt:lpstr>Dependencies</vt:lpstr>
      <vt:lpstr>Dependencies</vt:lpstr>
      <vt:lpstr>Dependencies</vt:lpstr>
      <vt:lpstr>Dependencies</vt:lpstr>
      <vt:lpstr>Abstraction</vt:lpstr>
      <vt:lpstr>Abstraction</vt:lpstr>
      <vt:lpstr>Abstraction</vt:lpstr>
      <vt:lpstr>Abstraction</vt:lpstr>
      <vt:lpstr>Abstraction</vt:lpstr>
      <vt:lpstr>Abstraction</vt:lpstr>
      <vt:lpstr>Abstraction</vt:lpstr>
      <vt:lpstr>Abstraction</vt:lpstr>
      <vt:lpstr>Divide and Conquer</vt:lpstr>
      <vt:lpstr>ROLLBACK</vt:lpstr>
      <vt:lpstr>Rollback</vt:lpstr>
      <vt:lpstr>Discarding changes</vt:lpstr>
      <vt:lpstr>Discarding changes (VS Code)</vt:lpstr>
      <vt:lpstr>Undoing commits</vt:lpstr>
      <vt:lpstr>Undoing commits</vt:lpstr>
      <vt:lpstr>Reverting commits</vt:lpstr>
      <vt:lpstr>Closing Notes</vt:lpstr>
      <vt:lpstr>Takeaways</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Windows 使用者</dc:creator>
  <cp:lastModifiedBy>峻平 周</cp:lastModifiedBy>
  <cp:revision>183</cp:revision>
  <cp:lastPrinted>1601-01-01T00:00:00Z</cp:lastPrinted>
  <dcterms:created xsi:type="dcterms:W3CDTF">2018-01-25T06:12:58Z</dcterms:created>
  <dcterms:modified xsi:type="dcterms:W3CDTF">2026-02-16T08:07:00Z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TC062560581033</vt:lpwstr>
  </property>
</Properties>
</file>